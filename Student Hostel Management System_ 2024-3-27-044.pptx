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2" r:id="rId4"/>
    <p:sldId id="263" r:id="rId5"/>
    <p:sldId id="265" r:id="rId6"/>
    <p:sldId id="266" r:id="rId7"/>
    <p:sldId id="268" r:id="rId8"/>
    <p:sldId id="278" r:id="rId9"/>
    <p:sldId id="269" r:id="rId10"/>
    <p:sldId id="281" r:id="rId11"/>
    <p:sldId id="279" r:id="rId12"/>
    <p:sldId id="280" r:id="rId13"/>
    <p:sldId id="282" r:id="rId14"/>
    <p:sldId id="275" r:id="rId15"/>
    <p:sldId id="274"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033" autoAdjust="0"/>
  </p:normalViewPr>
  <p:slideViewPr>
    <p:cSldViewPr>
      <p:cViewPr>
        <p:scale>
          <a:sx n="82" d="100"/>
          <a:sy n="82" d="100"/>
        </p:scale>
        <p:origin x="691"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标题和副标题">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tretch>
            <a:fillRect/>
          </a:stretch>
        </a:blipFill>
        <a:effectLst/>
      </p:bgPr>
    </p:bg>
    <p:spTree>
      <p:nvGrpSpPr>
        <p:cNvPr id="1" name=""/>
        <p:cNvGrpSpPr/>
        <p:nvPr/>
      </p:nvGrpSpPr>
      <p:grpSpPr>
        <a:xfrm>
          <a:off x="0" y="0"/>
          <a:ext cx="0" cy="0"/>
          <a:chOff x="0" y="0"/>
          <a:chExt cx="0" cy="0"/>
        </a:xfrm>
      </p:grpSpPr>
      <p:sp>
        <p:nvSpPr>
          <p:cNvPr id="2" name="AutoShape 2" hidden="1"/>
          <p:cNvSpPr/>
          <p:nvPr/>
        </p:nvSpPr>
        <p:spPr>
          <a:xfrm>
            <a:off x="0" y="0"/>
            <a:ext cx="0" cy="0"/>
          </a:xfrm>
          <a:prstGeom prst="rect">
            <a:avLst/>
          </a:prstGeom>
          <a:solidFill>
            <a:schemeClr val="accent1"/>
          </a:solidFill>
          <a:ln w="12700" cap="flat" cmpd="sng">
            <a:solidFill>
              <a:schemeClr val="accent1">
                <a:shade val="50000"/>
              </a:schemeClr>
            </a:solidFill>
            <a:prstDash val="solid"/>
          </a:ln>
        </p:spPr>
        <p:txBody>
          <a:bodyPr vert="horz" lIns="91440" tIns="45720" rIns="91440" bIns="45720" anchor="ctr"/>
          <a:lstStyle/>
          <a:p>
            <a:pPr marL="0" algn="ctr"/>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 name="Group 2"/>
          <p:cNvGrpSpPr/>
          <p:nvPr/>
        </p:nvGrpSpPr>
        <p:grpSpPr>
          <a:xfrm>
            <a:off x="1059043" y="4611346"/>
            <a:ext cx="7181215" cy="368300"/>
            <a:chOff x="4013321" y="3753992"/>
            <a:chExt cx="7181215" cy="368300"/>
          </a:xfrm>
          <a:noFill/>
        </p:grpSpPr>
        <p:sp>
          <p:nvSpPr>
            <p:cNvPr id="3" name="TextBox 3"/>
            <p:cNvSpPr txBox="1"/>
            <p:nvPr/>
          </p:nvSpPr>
          <p:spPr>
            <a:xfrm>
              <a:off x="4013321" y="3753992"/>
              <a:ext cx="2393315" cy="261610"/>
            </a:xfrm>
            <a:prstGeom prst="rect">
              <a:avLst/>
            </a:prstGeom>
            <a:grpFill/>
            <a:ln>
              <a:noFill/>
            </a:ln>
          </p:spPr>
          <p:txBody>
            <a:bodyPr vert="horz" wrap="square" lIns="91440" tIns="45720" rIns="91440" bIns="45720" rtlCol="0" anchor="t">
              <a:spAutoFit/>
            </a:bodyPr>
            <a:lstStyle/>
            <a:p>
              <a:pPr marL="0" algn="l">
                <a:defRPr/>
              </a:pPr>
              <a:endParaRPr lang="en-US" sz="1100" dirty="0"/>
            </a:p>
          </p:txBody>
        </p:sp>
        <p:sp>
          <p:nvSpPr>
            <p:cNvPr id="4" name="AutoShape 4"/>
            <p:cNvSpPr/>
            <p:nvPr/>
          </p:nvSpPr>
          <p:spPr>
            <a:xfrm>
              <a:off x="6809226" y="3753992"/>
              <a:ext cx="4385310" cy="368300"/>
            </a:xfrm>
            <a:prstGeom prst="rect">
              <a:avLst/>
            </a:prstGeom>
            <a:grpFill/>
            <a:ln>
              <a:noFill/>
            </a:ln>
          </p:spPr>
          <p:txBody>
            <a:bodyPr vert="horz" wrap="square" lIns="91440" tIns="45720" rIns="91440" bIns="45720" anchor="t">
              <a:spAutoFit/>
            </a:bodyPr>
            <a:lstStyle/>
            <a:p>
              <a:pPr marL="0" algn="l"/>
              <a:endParaRPr lang="en-US" sz="1800" b="0" i="0" u="none" baseline="0" dirty="0">
                <a:solidFill>
                  <a:srgbClr val="FFFFFF"/>
                </a:solidFill>
                <a:latin typeface="思源黑体 Normal"/>
                <a:ea typeface="思源黑体 Normal"/>
              </a:endParaRPr>
            </a:p>
          </p:txBody>
        </p:sp>
      </p:grpSp>
      <p:sp>
        <p:nvSpPr>
          <p:cNvPr id="7" name="TextBox 7"/>
          <p:cNvSpPr txBox="1"/>
          <p:nvPr/>
        </p:nvSpPr>
        <p:spPr>
          <a:xfrm>
            <a:off x="1295400" y="1588135"/>
            <a:ext cx="11593830" cy="709930"/>
          </a:xfrm>
          <a:prstGeom prst="rect">
            <a:avLst/>
          </a:prstGeom>
          <a:noFill/>
        </p:spPr>
        <p:txBody>
          <a:bodyPr vert="horz" wrap="square" lIns="91440" tIns="45720" rIns="91440" bIns="45720" rtlCol="0" anchor="b">
            <a:noAutofit/>
          </a:bodyPr>
          <a:lstStyle/>
          <a:p>
            <a:pPr marL="0" indent="0" algn="l" fontAlgn="auto">
              <a:lnSpc>
                <a:spcPct val="110000"/>
              </a:lnSpc>
              <a:defRPr/>
            </a:pPr>
            <a:r>
              <a:rPr lang="en-US" sz="4000" b="1" i="0" u="none" spc="300" baseline="0" dirty="0">
                <a:solidFill>
                  <a:srgbClr val="FFFFFF"/>
                </a:solidFill>
                <a:latin typeface="思源黑体 Medium"/>
                <a:ea typeface="思源黑体 Medium"/>
              </a:rPr>
              <a:t>Student Hostel Management System</a:t>
            </a:r>
            <a:endParaRPr lang="en-US" sz="4000" dirty="0"/>
          </a:p>
        </p:txBody>
      </p:sp>
      <p:sp>
        <p:nvSpPr>
          <p:cNvPr id="10" name="TextBox 9">
            <a:extLst>
              <a:ext uri="{FF2B5EF4-FFF2-40B4-BE49-F238E27FC236}">
                <a16:creationId xmlns:a16="http://schemas.microsoft.com/office/drawing/2014/main" id="{A03B798F-3F02-AD51-9EED-F0211B25EF6C}"/>
              </a:ext>
            </a:extLst>
          </p:cNvPr>
          <p:cNvSpPr txBox="1"/>
          <p:nvPr/>
        </p:nvSpPr>
        <p:spPr>
          <a:xfrm>
            <a:off x="4007471" y="3100762"/>
            <a:ext cx="4267200" cy="707886"/>
          </a:xfrm>
          <a:prstGeom prst="rect">
            <a:avLst/>
          </a:prstGeom>
          <a:noFill/>
        </p:spPr>
        <p:txBody>
          <a:bodyPr wrap="square" rtlCol="0">
            <a:spAutoFit/>
          </a:bodyPr>
          <a:lstStyle/>
          <a:p>
            <a:r>
              <a:rPr lang="en-US" sz="2000" dirty="0">
                <a:solidFill>
                  <a:schemeClr val="bg2"/>
                </a:solidFill>
              </a:rPr>
              <a:t>Course Code: DSA 201</a:t>
            </a:r>
          </a:p>
          <a:p>
            <a:r>
              <a:rPr lang="en-US" sz="2000" dirty="0">
                <a:solidFill>
                  <a:schemeClr val="bg2"/>
                </a:solidFill>
              </a:rPr>
              <a:t>Name: Md. Riyad Ahmed Hridoy </a:t>
            </a: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 name="Group 2"/>
          <p:cNvGrpSpPr/>
          <p:nvPr/>
        </p:nvGrpSpPr>
        <p:grpSpPr>
          <a:xfrm>
            <a:off x="1203325" y="1769745"/>
            <a:ext cx="5232400" cy="4364355"/>
            <a:chOff x="1022247" y="1769914"/>
            <a:chExt cx="5232251" cy="4364186"/>
          </a:xfrm>
          <a:solidFill>
            <a:srgbClr val="FAEEE1"/>
          </a:solidFill>
        </p:grpSpPr>
        <p:sp>
          <p:nvSpPr>
            <p:cNvPr id="3" name="Freeform 3"/>
            <p:cNvSpPr/>
            <p:nvPr/>
          </p:nvSpPr>
          <p:spPr>
            <a:xfrm>
              <a:off x="1022247" y="1769914"/>
              <a:ext cx="5232251" cy="4364186"/>
            </a:xfrm>
            <a:custGeom>
              <a:avLst/>
              <a:gdLst/>
              <a:ahLst/>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pFill/>
            <a:ln>
              <a:noFill/>
            </a:ln>
          </p:spPr>
          <p:txBody>
            <a:bodyPr vert="horz" wrap="square" lIns="90170" tIns="46990" rIns="90170" bIns="46990" anchor="ctr">
              <a:normAutofit/>
            </a:bodyPr>
            <a:lstStyle/>
            <a:p>
              <a:pPr marL="0" algn="ctr"/>
              <a:endParaRPr/>
            </a:p>
          </p:txBody>
        </p:sp>
        <p:sp>
          <p:nvSpPr>
            <p:cNvPr id="4" name="AutoShape 4"/>
            <p:cNvSpPr/>
            <p:nvPr/>
          </p:nvSpPr>
          <p:spPr>
            <a:xfrm>
              <a:off x="1203707" y="2017434"/>
              <a:ext cx="803982" cy="803979"/>
            </a:xfrm>
            <a:prstGeom prst="ellipse">
              <a:avLst/>
            </a:prstGeom>
            <a:grpFill/>
            <a:ln>
              <a:noFill/>
            </a:ln>
          </p:spPr>
          <p:txBody>
            <a:bodyPr vert="horz" wrap="square" lIns="90170" tIns="46990" rIns="90170" bIns="46990" anchor="ctr">
              <a:normAutofit/>
            </a:bodyPr>
            <a:lstStyle/>
            <a:p>
              <a:pPr marL="0" algn="ctr"/>
              <a:endParaRPr/>
            </a:p>
          </p:txBody>
        </p:sp>
        <p:sp>
          <p:nvSpPr>
            <p:cNvPr id="5" name="AutoShape 5"/>
            <p:cNvSpPr/>
            <p:nvPr/>
          </p:nvSpPr>
          <p:spPr>
            <a:xfrm>
              <a:off x="1260827" y="2074554"/>
              <a:ext cx="689743" cy="689741"/>
            </a:xfrm>
            <a:prstGeom prst="ellipse">
              <a:avLst/>
            </a:prstGeom>
            <a:solidFill>
              <a:srgbClr val="E5A744"/>
            </a:solidFill>
          </p:spPr>
          <p:txBody>
            <a:bodyPr vert="horz" wrap="square" lIns="90170" tIns="46990" rIns="90170" bIns="46990" anchor="ctr">
              <a:normAutofit/>
            </a:bodyPr>
            <a:lstStyle/>
            <a:p>
              <a:pPr marL="0" algn="ctr"/>
              <a:endParaRPr/>
            </a:p>
          </p:txBody>
        </p:sp>
        <p:sp>
          <p:nvSpPr>
            <p:cNvPr id="6" name="Freeform 6"/>
            <p:cNvSpPr/>
            <p:nvPr/>
          </p:nvSpPr>
          <p:spPr>
            <a:xfrm>
              <a:off x="1508705" y="2315382"/>
              <a:ext cx="193988" cy="208085"/>
            </a:xfrm>
            <a:custGeom>
              <a:avLst/>
              <a:gdLst/>
              <a:ahLst/>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chemeClr val="bg2"/>
            </a:solidFill>
          </p:spPr>
          <p:txBody>
            <a:bodyPr vert="horz" wrap="square" lIns="90170" tIns="46990" rIns="90170" bIns="46990" anchor="ctr">
              <a:normAutofit fontScale="47500" lnSpcReduction="20000"/>
            </a:bodyPr>
            <a:lstStyle/>
            <a:p>
              <a:pPr marL="0" algn="ctr"/>
              <a:endParaRPr/>
            </a:p>
          </p:txBody>
        </p:sp>
      </p:grpSp>
      <p:grpSp>
        <p:nvGrpSpPr>
          <p:cNvPr id="7" name="Group 7"/>
          <p:cNvGrpSpPr/>
          <p:nvPr/>
        </p:nvGrpSpPr>
        <p:grpSpPr>
          <a:xfrm>
            <a:off x="5581500" y="1769745"/>
            <a:ext cx="5407631" cy="4364355"/>
            <a:chOff x="5399051" y="1769914"/>
            <a:chExt cx="5407482" cy="4364186"/>
          </a:xfrm>
          <a:solidFill>
            <a:srgbClr val="FAEEE1"/>
          </a:solidFill>
        </p:grpSpPr>
        <p:sp>
          <p:nvSpPr>
            <p:cNvPr id="8" name="Freeform 8"/>
            <p:cNvSpPr/>
            <p:nvPr/>
          </p:nvSpPr>
          <p:spPr>
            <a:xfrm>
              <a:off x="5399051" y="1769914"/>
              <a:ext cx="5407482" cy="4364186"/>
            </a:xfrm>
            <a:custGeom>
              <a:avLst/>
              <a:gdLst/>
              <a:ahLst/>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pFill/>
            <a:ln>
              <a:noFill/>
            </a:ln>
          </p:spPr>
          <p:txBody>
            <a:bodyPr vert="horz" wrap="square" lIns="90170" tIns="46990" rIns="90170" bIns="46990" anchor="ctr">
              <a:normAutofit/>
            </a:bodyPr>
            <a:lstStyle/>
            <a:p>
              <a:pPr marL="0" algn="ctr"/>
              <a:endParaRPr/>
            </a:p>
          </p:txBody>
        </p:sp>
        <p:sp>
          <p:nvSpPr>
            <p:cNvPr id="9" name="AutoShape 9"/>
            <p:cNvSpPr/>
            <p:nvPr/>
          </p:nvSpPr>
          <p:spPr>
            <a:xfrm>
              <a:off x="9804460" y="5125857"/>
              <a:ext cx="803982" cy="803979"/>
            </a:xfrm>
            <a:prstGeom prst="ellipse">
              <a:avLst/>
            </a:prstGeom>
            <a:grpFill/>
            <a:ln>
              <a:noFill/>
            </a:ln>
          </p:spPr>
          <p:txBody>
            <a:bodyPr vert="horz" wrap="square" lIns="90170" tIns="46990" rIns="90170" bIns="46990" anchor="ctr">
              <a:normAutofit/>
            </a:bodyPr>
            <a:lstStyle/>
            <a:p>
              <a:pPr marL="0" algn="ctr"/>
              <a:endParaRPr/>
            </a:p>
          </p:txBody>
        </p:sp>
        <p:sp>
          <p:nvSpPr>
            <p:cNvPr id="10" name="AutoShape 10"/>
            <p:cNvSpPr/>
            <p:nvPr/>
          </p:nvSpPr>
          <p:spPr>
            <a:xfrm>
              <a:off x="9861580" y="5182976"/>
              <a:ext cx="689743" cy="689741"/>
            </a:xfrm>
            <a:prstGeom prst="ellipse">
              <a:avLst/>
            </a:prstGeom>
            <a:solidFill>
              <a:srgbClr val="E5A744"/>
            </a:solidFill>
          </p:spPr>
          <p:txBody>
            <a:bodyPr vert="horz" wrap="square" lIns="90170" tIns="46990" rIns="90170" bIns="46990" anchor="ctr">
              <a:normAutofit/>
            </a:bodyPr>
            <a:lstStyle/>
            <a:p>
              <a:pPr marL="0" algn="ctr"/>
              <a:endParaRPr/>
            </a:p>
          </p:txBody>
        </p:sp>
        <p:sp>
          <p:nvSpPr>
            <p:cNvPr id="11" name="Freeform 11"/>
            <p:cNvSpPr/>
            <p:nvPr/>
          </p:nvSpPr>
          <p:spPr>
            <a:xfrm>
              <a:off x="10109457" y="5423804"/>
              <a:ext cx="193988" cy="208085"/>
            </a:xfrm>
            <a:custGeom>
              <a:avLst/>
              <a:gdLst/>
              <a:ahLst/>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chemeClr val="bg2"/>
            </a:solidFill>
          </p:spPr>
          <p:txBody>
            <a:bodyPr vert="horz" wrap="square" lIns="90170" tIns="46990" rIns="90170" bIns="46990" anchor="ctr">
              <a:normAutofit fontScale="47500" lnSpcReduction="20000"/>
            </a:bodyPr>
            <a:lstStyle/>
            <a:p>
              <a:pPr marL="0" algn="ctr"/>
              <a:endParaRPr/>
            </a:p>
          </p:txBody>
        </p:sp>
      </p:grpSp>
      <p:sp>
        <p:nvSpPr>
          <p:cNvPr id="12" name="TextBox 12"/>
          <p:cNvSpPr txBox="1"/>
          <p:nvPr/>
        </p:nvSpPr>
        <p:spPr>
          <a:xfrm>
            <a:off x="1333500" y="2789555"/>
            <a:ext cx="4248000" cy="792000"/>
          </a:xfrm>
          <a:prstGeom prst="rect">
            <a:avLst/>
          </a:prstGeom>
        </p:spPr>
        <p:txBody>
          <a:bodyPr vert="horz" wrap="square" lIns="90170" tIns="46990" rIns="90170" bIns="46990" rtlCol="0" anchor="b">
            <a:normAutofit/>
          </a:bodyPr>
          <a:lstStyle/>
          <a:p>
            <a:pPr marL="0" indent="0" algn="l" fontAlgn="auto">
              <a:lnSpc>
                <a:spcPct val="110000"/>
              </a:lnSpc>
              <a:defRPr/>
            </a:pPr>
            <a:r>
              <a:rPr lang="en-US" sz="2000" b="1" i="0" u="none" baseline="0" dirty="0">
                <a:solidFill>
                  <a:srgbClr val="E5A744"/>
                </a:solidFill>
                <a:latin typeface="思源黑体 Normal"/>
                <a:ea typeface="思源黑体 Normal"/>
              </a:rPr>
              <a:t>System Purpose and Scope</a:t>
            </a:r>
            <a:endParaRPr lang="en-US" sz="1100" dirty="0"/>
          </a:p>
        </p:txBody>
      </p:sp>
      <p:sp>
        <p:nvSpPr>
          <p:cNvPr id="13" name="AutoShape 13"/>
          <p:cNvSpPr/>
          <p:nvPr/>
        </p:nvSpPr>
        <p:spPr>
          <a:xfrm>
            <a:off x="1333500" y="3581400"/>
            <a:ext cx="4248000" cy="1980000"/>
          </a:xfrm>
          <a:prstGeom prst="rect">
            <a:avLst/>
          </a:prstGeom>
          <a:noFill/>
        </p:spPr>
        <p:txBody>
          <a:bodyPr vert="horz" wrap="square" lIns="90170" tIns="46990" rIns="90170" bIns="46990" anchor="t">
            <a:normAutofit fontScale="85000" lnSpcReduction="10000"/>
          </a:bodyPr>
          <a:lstStyle/>
          <a:p>
            <a:pPr marL="0" indent="0" algn="just" fontAlgn="auto">
              <a:lnSpc>
                <a:spcPct val="150000"/>
              </a:lnSpc>
            </a:pPr>
            <a:r>
              <a:rPr lang="en-US" sz="1500" b="0" i="0" u="none" baseline="0" dirty="0">
                <a:solidFill>
                  <a:srgbClr val="000000"/>
                </a:solidFill>
                <a:latin typeface="思源黑体 Normal"/>
                <a:ea typeface="思源黑体 Normal"/>
              </a:rPr>
              <a:t>The Student Hostel Management System is a database-driven tool designed for efficient storage and management of student information, hostel details, staff data, payments, room allocations, and maintenance requests. It enables dynamic management of all hostel functions through a user-friendly database system.</a:t>
            </a:r>
          </a:p>
        </p:txBody>
      </p:sp>
      <p:sp>
        <p:nvSpPr>
          <p:cNvPr id="14" name="TextBox 14"/>
          <p:cNvSpPr txBox="1"/>
          <p:nvPr/>
        </p:nvSpPr>
        <p:spPr>
          <a:xfrm>
            <a:off x="6483985" y="1996440"/>
            <a:ext cx="4248000" cy="792000"/>
          </a:xfrm>
          <a:prstGeom prst="rect">
            <a:avLst/>
          </a:prstGeom>
        </p:spPr>
        <p:txBody>
          <a:bodyPr vert="horz" wrap="square" lIns="90170" tIns="46990" rIns="90170" bIns="46990" rtlCol="0" anchor="b">
            <a:normAutofit/>
          </a:bodyPr>
          <a:lstStyle/>
          <a:p>
            <a:pPr marL="0" indent="0" algn="l" fontAlgn="auto">
              <a:lnSpc>
                <a:spcPct val="110000"/>
              </a:lnSpc>
              <a:defRPr/>
            </a:pPr>
            <a:r>
              <a:rPr lang="en-US" sz="2400" b="1" i="0" u="none" baseline="0" dirty="0">
                <a:solidFill>
                  <a:srgbClr val="E5A744"/>
                </a:solidFill>
                <a:latin typeface="思源黑体 Normal"/>
                <a:ea typeface="思源黑体 Normal"/>
              </a:rPr>
              <a:t>Core Entities </a:t>
            </a:r>
            <a:endParaRPr lang="en-US" sz="2400" dirty="0"/>
          </a:p>
        </p:txBody>
      </p:sp>
      <p:sp>
        <p:nvSpPr>
          <p:cNvPr id="15" name="AutoShape 15"/>
          <p:cNvSpPr/>
          <p:nvPr/>
        </p:nvSpPr>
        <p:spPr>
          <a:xfrm>
            <a:off x="6483985" y="2789555"/>
            <a:ext cx="4248000" cy="1980000"/>
          </a:xfrm>
          <a:prstGeom prst="rect">
            <a:avLst/>
          </a:prstGeom>
          <a:noFill/>
        </p:spPr>
        <p:txBody>
          <a:bodyPr vert="horz" wrap="square" lIns="90170" tIns="46990" rIns="90170" bIns="46990" anchor="t">
            <a:normAutofit fontScale="92500" lnSpcReduction="10000"/>
          </a:bodyPr>
          <a:lstStyle/>
          <a:p>
            <a:pPr marL="0" indent="0" algn="just" fontAlgn="auto">
              <a:lnSpc>
                <a:spcPct val="150000"/>
              </a:lnSpc>
            </a:pPr>
            <a:r>
              <a:rPr lang="en-US" sz="1500" b="0" i="0" u="none" baseline="0" dirty="0">
                <a:solidFill>
                  <a:srgbClr val="000000"/>
                </a:solidFill>
                <a:latin typeface="思源黑体 Normal"/>
                <a:ea typeface="思源黑体 Normal"/>
              </a:rPr>
              <a:t>The system comprises 11 core entities including Hostel, Floor, Room, Bed, Student, Complain, Payment, Allocation, Staff, and </a:t>
            </a:r>
            <a:r>
              <a:rPr lang="en-US" sz="1500" b="0" i="0" u="none" baseline="0" dirty="0" err="1">
                <a:solidFill>
                  <a:srgbClr val="000000"/>
                </a:solidFill>
                <a:latin typeface="思源黑体 Normal"/>
                <a:ea typeface="思源黑体 Normal"/>
              </a:rPr>
              <a:t>Maintenance_Request</a:t>
            </a:r>
            <a:r>
              <a:rPr lang="en-US" sz="1500" b="0" i="0" u="none" baseline="0" dirty="0">
                <a:solidFill>
                  <a:srgbClr val="000000"/>
                </a:solidFill>
                <a:latin typeface="思源黑体 Normal"/>
                <a:ea typeface="思源黑体 Normal"/>
              </a:rPr>
              <a:t>. Each entity has specific attributes such as </a:t>
            </a:r>
            <a:r>
              <a:rPr lang="en-US" sz="1500" b="0" i="0" u="none" baseline="0" dirty="0" err="1">
                <a:solidFill>
                  <a:srgbClr val="000000"/>
                </a:solidFill>
                <a:latin typeface="思源黑体 Normal"/>
                <a:ea typeface="思源黑体 Normal"/>
              </a:rPr>
              <a:t>hostel_id</a:t>
            </a:r>
            <a:r>
              <a:rPr lang="en-US" sz="1500" b="0" i="0" u="none" baseline="0" dirty="0">
                <a:solidFill>
                  <a:srgbClr val="000000"/>
                </a:solidFill>
                <a:latin typeface="思源黑体 Normal"/>
                <a:ea typeface="思源黑体 Normal"/>
              </a:rPr>
              <a:t>, </a:t>
            </a:r>
            <a:r>
              <a:rPr lang="en-US" sz="1500" b="0" i="0" u="none" baseline="0" dirty="0" err="1">
                <a:solidFill>
                  <a:srgbClr val="000000"/>
                </a:solidFill>
                <a:latin typeface="思源黑体 Normal"/>
                <a:ea typeface="思源黑体 Normal"/>
              </a:rPr>
              <a:t>student_id</a:t>
            </a:r>
            <a:r>
              <a:rPr lang="en-US" sz="1500" b="0" i="0" u="none" baseline="0" dirty="0">
                <a:solidFill>
                  <a:srgbClr val="000000"/>
                </a:solidFill>
                <a:latin typeface="思源黑体 Normal"/>
                <a:ea typeface="思源黑体 Normal"/>
              </a:rPr>
              <a:t>, and </a:t>
            </a:r>
            <a:r>
              <a:rPr lang="en-US" sz="1500" b="0" i="0" u="none" baseline="0" dirty="0" err="1">
                <a:solidFill>
                  <a:srgbClr val="000000"/>
                </a:solidFill>
                <a:latin typeface="思源黑体 Normal"/>
                <a:ea typeface="思源黑体 Normal"/>
              </a:rPr>
              <a:t>payment_id</a:t>
            </a:r>
            <a:r>
              <a:rPr lang="en-US" sz="1500" b="0" i="0" u="none" baseline="0" dirty="0">
                <a:solidFill>
                  <a:srgbClr val="000000"/>
                </a:solidFill>
                <a:latin typeface="思源黑体 Normal"/>
                <a:ea typeface="思源黑体 Normal"/>
              </a:rPr>
              <a:t> as primary keys, ensuring structured data organization.</a:t>
            </a:r>
          </a:p>
        </p:txBody>
      </p:sp>
      <p:sp>
        <p:nvSpPr>
          <p:cNvPr id="16" name="Freeform 16"/>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17" name="TextBox 17"/>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Introduction to Student Hostel Management System</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59045" y="159045"/>
            <a:ext cx="7316048" cy="407154"/>
          </a:xfrm>
          <a:prstGeom prst="rect">
            <a:avLst/>
          </a:prstGeom>
          <a:noFill/>
        </p:spPr>
        <p:txBody>
          <a:bodyPr vert="horz" wrap="none" lIns="57256" tIns="28628" rIns="57256" bIns="28628" anchor="ctr">
            <a:noAutofit/>
          </a:bodyPr>
          <a:lstStyle/>
          <a:p>
            <a:pPr marL="0" indent="0" algn="l"/>
            <a:r>
              <a:rPr lang="en-US" sz="2817" b="1" i="0" u="none" spc="-137" baseline="0" dirty="0">
                <a:latin typeface="思源黑体 Normal"/>
                <a:ea typeface="思源黑体 Normal"/>
              </a:rPr>
              <a:t>Entity Relationships and Cardinality</a:t>
            </a:r>
          </a:p>
        </p:txBody>
      </p:sp>
      <p:sp>
        <p:nvSpPr>
          <p:cNvPr id="3" name="AutoShape 3"/>
          <p:cNvSpPr/>
          <p:nvPr/>
        </p:nvSpPr>
        <p:spPr>
          <a:xfrm>
            <a:off x="159045" y="605960"/>
            <a:ext cx="7316048" cy="407154"/>
          </a:xfrm>
          <a:prstGeom prst="rect">
            <a:avLst/>
          </a:prstGeom>
          <a:noFill/>
        </p:spPr>
        <p:txBody>
          <a:bodyPr vert="horz" wrap="none" lIns="57256" tIns="28628" rIns="57256" bIns="28628" anchor="ctr">
            <a:noAutofit/>
          </a:bodyPr>
          <a:lstStyle/>
          <a:p>
            <a:pPr marL="0" indent="0" algn="l"/>
            <a:r>
              <a:rPr lang="en-US" sz="1628" b="1" i="0" u="none" spc="-82" baseline="0" dirty="0">
                <a:latin typeface="思源黑体 Normal"/>
                <a:ea typeface="思源黑体 Normal"/>
              </a:rPr>
              <a:t>Relationship Details Table</a:t>
            </a:r>
          </a:p>
        </p:txBody>
      </p:sp>
      <p:graphicFrame>
        <p:nvGraphicFramePr>
          <p:cNvPr id="4" name="Table 4"/>
          <p:cNvGraphicFramePr>
            <a:graphicFrameLocks noGrp="1"/>
          </p:cNvGraphicFramePr>
          <p:nvPr>
            <p:extLst>
              <p:ext uri="{D42A27DB-BD31-4B8C-83A1-F6EECF244321}">
                <p14:modId xmlns:p14="http://schemas.microsoft.com/office/powerpoint/2010/main" val="2473769413"/>
              </p:ext>
            </p:extLst>
          </p:nvPr>
        </p:nvGraphicFramePr>
        <p:xfrm>
          <a:off x="5334000" y="362622"/>
          <a:ext cx="6489018" cy="5995965"/>
        </p:xfrm>
        <a:graphic>
          <a:graphicData uri="http://schemas.openxmlformats.org/drawingml/2006/table">
            <a:tbl>
              <a:tblPr/>
              <a:tblGrid>
                <a:gridCol w="876040">
                  <a:extLst>
                    <a:ext uri="{9D8B030D-6E8A-4147-A177-3AD203B41FA5}">
                      <a16:colId xmlns:a16="http://schemas.microsoft.com/office/drawing/2014/main" val="20000"/>
                    </a:ext>
                  </a:extLst>
                </a:gridCol>
                <a:gridCol w="1967327">
                  <a:extLst>
                    <a:ext uri="{9D8B030D-6E8A-4147-A177-3AD203B41FA5}">
                      <a16:colId xmlns:a16="http://schemas.microsoft.com/office/drawing/2014/main" val="20001"/>
                    </a:ext>
                  </a:extLst>
                </a:gridCol>
                <a:gridCol w="1116876">
                  <a:extLst>
                    <a:ext uri="{9D8B030D-6E8A-4147-A177-3AD203B41FA5}">
                      <a16:colId xmlns:a16="http://schemas.microsoft.com/office/drawing/2014/main" val="20002"/>
                    </a:ext>
                  </a:extLst>
                </a:gridCol>
                <a:gridCol w="2528775">
                  <a:extLst>
                    <a:ext uri="{9D8B030D-6E8A-4147-A177-3AD203B41FA5}">
                      <a16:colId xmlns:a16="http://schemas.microsoft.com/office/drawing/2014/main" val="20003"/>
                    </a:ext>
                  </a:extLst>
                </a:gridCol>
              </a:tblGrid>
              <a:tr h="270376">
                <a:tc>
                  <a:txBody>
                    <a:bodyPr/>
                    <a:lstStyle/>
                    <a:p>
                      <a:pPr marL="0" algn="l"/>
                      <a:r>
                        <a:rPr lang="en-US" sz="1127" b="1" i="0" u="none" baseline="0">
                          <a:solidFill>
                            <a:srgbClr val="FFFFFF"/>
                          </a:solidFill>
                          <a:latin typeface="思源黑体 Normal"/>
                          <a:ea typeface="思源黑体 Normal"/>
                        </a:rPr>
                        <a:t>Relation</a:t>
                      </a:r>
                    </a:p>
                  </a:txBody>
                  <a:tcPr marL="57256" marR="57256" marT="28628" marB="28628" anchor="ctr">
                    <a:lnL>
                      <a:noFill/>
                    </a:lnL>
                    <a:lnR>
                      <a:noFill/>
                    </a:lnR>
                    <a:lnT>
                      <a:noFill/>
                    </a:lnT>
                    <a:lnB>
                      <a:noFill/>
                    </a:lnB>
                    <a:solidFill>
                      <a:schemeClr val="accent1"/>
                    </a:solidFill>
                  </a:tcPr>
                </a:tc>
                <a:tc>
                  <a:txBody>
                    <a:bodyPr/>
                    <a:lstStyle/>
                    <a:p>
                      <a:pPr marL="0" algn="l"/>
                      <a:r>
                        <a:rPr lang="en-US" sz="1127" b="1" i="0" u="none" baseline="0">
                          <a:solidFill>
                            <a:srgbClr val="FFFFFF"/>
                          </a:solidFill>
                          <a:latin typeface="思源黑体 Normal"/>
                          <a:ea typeface="思源黑体 Normal"/>
                        </a:rPr>
                        <a:t>Connected Entity</a:t>
                      </a:r>
                    </a:p>
                  </a:txBody>
                  <a:tcPr marL="57256" marR="57256" marT="28628" marB="28628" anchor="ctr">
                    <a:lnL>
                      <a:noFill/>
                    </a:lnL>
                    <a:lnR>
                      <a:noFill/>
                    </a:lnR>
                    <a:lnT>
                      <a:noFill/>
                    </a:lnT>
                    <a:lnB>
                      <a:noFill/>
                    </a:lnB>
                    <a:solidFill>
                      <a:schemeClr val="accent1"/>
                    </a:solidFill>
                  </a:tcPr>
                </a:tc>
                <a:tc>
                  <a:txBody>
                    <a:bodyPr/>
                    <a:lstStyle/>
                    <a:p>
                      <a:pPr marL="0" algn="l"/>
                      <a:r>
                        <a:rPr lang="en-US" sz="1127" b="1" i="0" u="none" baseline="0">
                          <a:solidFill>
                            <a:srgbClr val="FFFFFF"/>
                          </a:solidFill>
                          <a:latin typeface="思源黑体 Normal"/>
                          <a:ea typeface="思源黑体 Normal"/>
                        </a:rPr>
                        <a:t>Cardinality</a:t>
                      </a:r>
                    </a:p>
                  </a:txBody>
                  <a:tcPr marL="57256" marR="57256" marT="28628" marB="28628" anchor="ctr">
                    <a:lnL>
                      <a:noFill/>
                    </a:lnL>
                    <a:lnR>
                      <a:noFill/>
                    </a:lnR>
                    <a:lnT>
                      <a:noFill/>
                    </a:lnT>
                    <a:lnB>
                      <a:noFill/>
                    </a:lnB>
                    <a:solidFill>
                      <a:schemeClr val="accent1"/>
                    </a:solidFill>
                  </a:tcPr>
                </a:tc>
                <a:tc>
                  <a:txBody>
                    <a:bodyPr/>
                    <a:lstStyle/>
                    <a:p>
                      <a:pPr marL="0" algn="l"/>
                      <a:r>
                        <a:rPr lang="en-US" sz="1127" b="1" i="0" u="none" baseline="0">
                          <a:solidFill>
                            <a:srgbClr val="FFFFFF"/>
                          </a:solidFill>
                          <a:latin typeface="思源黑体 Normal"/>
                          <a:ea typeface="思源黑体 Normal"/>
                        </a:rPr>
                        <a:t>Meaning</a:t>
                      </a:r>
                    </a:p>
                  </a:txBody>
                  <a:tcPr marL="57256" marR="57256" marT="28628" marB="28628" anchor="ctr">
                    <a:lnL>
                      <a:noFill/>
                    </a:lnL>
                    <a:lnR>
                      <a:noFill/>
                    </a:lnR>
                    <a:lnT>
                      <a:noFill/>
                    </a:lnT>
                    <a:lnB>
                      <a:noFill/>
                    </a:lnB>
                    <a:solidFill>
                      <a:schemeClr val="accent1"/>
                    </a:solidFill>
                  </a:tcPr>
                </a:tc>
                <a:extLst>
                  <a:ext uri="{0D108BD9-81ED-4DB2-BD59-A6C34878D82A}">
                    <a16:rowId xmlns:a16="http://schemas.microsoft.com/office/drawing/2014/main" val="10000"/>
                  </a:ext>
                </a:extLst>
              </a:tr>
              <a:tr h="270376">
                <a:tc>
                  <a:txBody>
                    <a:bodyPr/>
                    <a:lstStyle/>
                    <a:p>
                      <a:pPr marL="0" algn="l"/>
                      <a:r>
                        <a:rPr lang="en-US" sz="1127" b="0" i="0" u="none" baseline="0">
                          <a:solidFill>
                            <a:srgbClr val="000000"/>
                          </a:solidFill>
                          <a:latin typeface="思源黑体 Normal"/>
                          <a:ea typeface="思源黑体 Normal"/>
                        </a:rPr>
                        <a:t>Has</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Hostel - Floor</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1:N (Mandatory)</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One hostel must have one or more floors, and each floor belongs to one hostel.</a:t>
                      </a:r>
                    </a:p>
                  </a:txBody>
                  <a:tcPr marL="57256" marR="57256" marT="28628" marB="28628" anchor="ctr">
                    <a:lnL>
                      <a:noFill/>
                    </a:lnL>
                    <a:lnR>
                      <a:noFill/>
                    </a:lnR>
                    <a:lnT>
                      <a:noFill/>
                    </a:lnT>
                    <a:lnB>
                      <a:noFill/>
                    </a:lnB>
                    <a:solidFill>
                      <a:schemeClr val="accent1">
                        <a:tint val="40000"/>
                      </a:schemeClr>
                    </a:solidFill>
                  </a:tcPr>
                </a:tc>
                <a:extLst>
                  <a:ext uri="{0D108BD9-81ED-4DB2-BD59-A6C34878D82A}">
                    <a16:rowId xmlns:a16="http://schemas.microsoft.com/office/drawing/2014/main" val="10001"/>
                  </a:ext>
                </a:extLst>
              </a:tr>
              <a:tr h="270376">
                <a:tc>
                  <a:txBody>
                    <a:bodyPr/>
                    <a:lstStyle/>
                    <a:p>
                      <a:pPr marL="0" algn="l"/>
                      <a:r>
                        <a:rPr lang="en-US" sz="1127" b="0" i="0" u="none" baseline="0">
                          <a:solidFill>
                            <a:srgbClr val="000000"/>
                          </a:solidFill>
                          <a:latin typeface="思源黑体 Normal"/>
                          <a:ea typeface="思源黑体 Normal"/>
                        </a:rPr>
                        <a:t>Contains</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dirty="0">
                          <a:solidFill>
                            <a:srgbClr val="000000"/>
                          </a:solidFill>
                          <a:latin typeface="思源黑体 Normal"/>
                          <a:ea typeface="思源黑体 Normal"/>
                        </a:rPr>
                        <a:t>Floor - Room</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1:N (Mandatory)</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One floor must contain one or more rooms, and each room belongs to one floor.</a:t>
                      </a:r>
                    </a:p>
                  </a:txBody>
                  <a:tcPr marL="57256" marR="57256" marT="28628" marB="28628" anchor="ctr">
                    <a:lnL>
                      <a:noFill/>
                    </a:lnL>
                    <a:lnR>
                      <a:noFill/>
                    </a:lnR>
                    <a:lnT>
                      <a:noFill/>
                    </a:lnT>
                    <a:lnB>
                      <a:noFill/>
                    </a:lnB>
                    <a:solidFill>
                      <a:schemeClr val="accent1">
                        <a:tint val="20000"/>
                      </a:schemeClr>
                    </a:solidFill>
                  </a:tcPr>
                </a:tc>
                <a:extLst>
                  <a:ext uri="{0D108BD9-81ED-4DB2-BD59-A6C34878D82A}">
                    <a16:rowId xmlns:a16="http://schemas.microsoft.com/office/drawing/2014/main" val="10002"/>
                  </a:ext>
                </a:extLst>
              </a:tr>
              <a:tr h="270376">
                <a:tc>
                  <a:txBody>
                    <a:bodyPr/>
                    <a:lstStyle/>
                    <a:p>
                      <a:pPr marL="0" algn="l"/>
                      <a:r>
                        <a:rPr lang="en-US" sz="1127" b="0" i="0" u="none" baseline="0">
                          <a:solidFill>
                            <a:srgbClr val="000000"/>
                          </a:solidFill>
                          <a:latin typeface="思源黑体 Normal"/>
                          <a:ea typeface="思源黑体 Normal"/>
                        </a:rPr>
                        <a:t>Has</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dirty="0">
                          <a:solidFill>
                            <a:srgbClr val="000000"/>
                          </a:solidFill>
                          <a:latin typeface="思源黑体 Normal"/>
                          <a:ea typeface="思源黑体 Normal"/>
                        </a:rPr>
                        <a:t>Room - Bed</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1:N (Mandatory)</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One room can have one or many beds and every bed belongs to one room.</a:t>
                      </a:r>
                    </a:p>
                  </a:txBody>
                  <a:tcPr marL="57256" marR="57256" marT="28628" marB="28628" anchor="ctr">
                    <a:lnL>
                      <a:noFill/>
                    </a:lnL>
                    <a:lnR>
                      <a:noFill/>
                    </a:lnR>
                    <a:lnT>
                      <a:noFill/>
                    </a:lnT>
                    <a:lnB>
                      <a:noFill/>
                    </a:lnB>
                    <a:solidFill>
                      <a:schemeClr val="accent1">
                        <a:tint val="40000"/>
                      </a:schemeClr>
                    </a:solidFill>
                  </a:tcPr>
                </a:tc>
                <a:extLst>
                  <a:ext uri="{0D108BD9-81ED-4DB2-BD59-A6C34878D82A}">
                    <a16:rowId xmlns:a16="http://schemas.microsoft.com/office/drawing/2014/main" val="10003"/>
                  </a:ext>
                </a:extLst>
              </a:tr>
              <a:tr h="270376">
                <a:tc>
                  <a:txBody>
                    <a:bodyPr/>
                    <a:lstStyle/>
                    <a:p>
                      <a:pPr marL="0" algn="l"/>
                      <a:r>
                        <a:rPr lang="en-US" sz="1127" b="0" i="0" u="none" baseline="0">
                          <a:solidFill>
                            <a:srgbClr val="000000"/>
                          </a:solidFill>
                          <a:latin typeface="思源黑体 Normal"/>
                          <a:ea typeface="思源黑体 Normal"/>
                        </a:rPr>
                        <a:t>Makes</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Student - Payments</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1:N (Optional)</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One student can payment zero, one or many and each payment must refer to one student.</a:t>
                      </a:r>
                    </a:p>
                  </a:txBody>
                  <a:tcPr marL="57256" marR="57256" marT="28628" marB="28628" anchor="ctr">
                    <a:lnL>
                      <a:noFill/>
                    </a:lnL>
                    <a:lnR>
                      <a:noFill/>
                    </a:lnR>
                    <a:lnT>
                      <a:noFill/>
                    </a:lnT>
                    <a:lnB>
                      <a:noFill/>
                    </a:lnB>
                    <a:solidFill>
                      <a:schemeClr val="accent1">
                        <a:tint val="20000"/>
                      </a:schemeClr>
                    </a:solidFill>
                  </a:tcPr>
                </a:tc>
                <a:extLst>
                  <a:ext uri="{0D108BD9-81ED-4DB2-BD59-A6C34878D82A}">
                    <a16:rowId xmlns:a16="http://schemas.microsoft.com/office/drawing/2014/main" val="10004"/>
                  </a:ext>
                </a:extLst>
              </a:tr>
              <a:tr h="270376">
                <a:tc>
                  <a:txBody>
                    <a:bodyPr/>
                    <a:lstStyle/>
                    <a:p>
                      <a:pPr marL="0" algn="l"/>
                      <a:r>
                        <a:rPr lang="en-US" sz="1127" b="0" i="0" u="none" baseline="0">
                          <a:solidFill>
                            <a:srgbClr val="000000"/>
                          </a:solidFill>
                          <a:latin typeface="思源黑体 Normal"/>
                          <a:ea typeface="思源黑体 Normal"/>
                        </a:rPr>
                        <a:t>Request</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dirty="0">
                          <a:solidFill>
                            <a:srgbClr val="000000"/>
                          </a:solidFill>
                          <a:latin typeface="思源黑体 Normal"/>
                          <a:ea typeface="思源黑体 Normal"/>
                        </a:rPr>
                        <a:t>Room - </a:t>
                      </a:r>
                      <a:r>
                        <a:rPr lang="en-US" sz="1127" b="0" i="0" u="none" baseline="0" dirty="0" err="1">
                          <a:solidFill>
                            <a:srgbClr val="000000"/>
                          </a:solidFill>
                          <a:latin typeface="思源黑体 Normal"/>
                          <a:ea typeface="思源黑体 Normal"/>
                        </a:rPr>
                        <a:t>Maintenance_Request</a:t>
                      </a:r>
                      <a:endParaRPr lang="en-US" sz="1127" b="0" i="0" u="none" baseline="0" dirty="0">
                        <a:solidFill>
                          <a:srgbClr val="000000"/>
                        </a:solidFill>
                        <a:latin typeface="思源黑体 Normal"/>
                        <a:ea typeface="思源黑体 Normal"/>
                      </a:endParaRP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1:N (Optional)</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dirty="0">
                          <a:solidFill>
                            <a:srgbClr val="000000"/>
                          </a:solidFill>
                          <a:latin typeface="思源黑体 Normal"/>
                          <a:ea typeface="思源黑体 Normal"/>
                        </a:rPr>
                        <a:t>one room may request zero or many maintenance requests and each request must contain a room.</a:t>
                      </a:r>
                    </a:p>
                  </a:txBody>
                  <a:tcPr marL="57256" marR="57256" marT="28628" marB="28628" anchor="ctr">
                    <a:lnL>
                      <a:noFill/>
                    </a:lnL>
                    <a:lnR>
                      <a:noFill/>
                    </a:lnR>
                    <a:lnT>
                      <a:noFill/>
                    </a:lnT>
                    <a:lnB>
                      <a:noFill/>
                    </a:lnB>
                    <a:solidFill>
                      <a:schemeClr val="accent1">
                        <a:tint val="40000"/>
                      </a:schemeClr>
                    </a:solidFill>
                  </a:tcPr>
                </a:tc>
                <a:extLst>
                  <a:ext uri="{0D108BD9-81ED-4DB2-BD59-A6C34878D82A}">
                    <a16:rowId xmlns:a16="http://schemas.microsoft.com/office/drawing/2014/main" val="10005"/>
                  </a:ext>
                </a:extLst>
              </a:tr>
              <a:tr h="270376">
                <a:tc>
                  <a:txBody>
                    <a:bodyPr/>
                    <a:lstStyle/>
                    <a:p>
                      <a:pPr marL="0" algn="l"/>
                      <a:r>
                        <a:rPr lang="en-US" sz="1127" b="0" i="0" u="none" baseline="0">
                          <a:solidFill>
                            <a:srgbClr val="000000"/>
                          </a:solidFill>
                          <a:latin typeface="思源黑体 Normal"/>
                          <a:ea typeface="思源黑体 Normal"/>
                        </a:rPr>
                        <a:t>Handles</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dirty="0">
                          <a:solidFill>
                            <a:srgbClr val="000000"/>
                          </a:solidFill>
                          <a:latin typeface="思源黑体 Normal"/>
                          <a:ea typeface="思源黑体 Normal"/>
                        </a:rPr>
                        <a:t>Staff - </a:t>
                      </a:r>
                      <a:r>
                        <a:rPr lang="en-US" sz="1127" b="0" i="0" u="none" baseline="0" dirty="0" err="1">
                          <a:solidFill>
                            <a:srgbClr val="000000"/>
                          </a:solidFill>
                          <a:latin typeface="思源黑体 Normal"/>
                          <a:ea typeface="思源黑体 Normal"/>
                        </a:rPr>
                        <a:t>Maintenance_Request</a:t>
                      </a:r>
                      <a:endParaRPr lang="en-US" sz="1127" b="0" i="0" u="none" baseline="0" dirty="0">
                        <a:solidFill>
                          <a:srgbClr val="000000"/>
                        </a:solidFill>
                        <a:latin typeface="思源黑体 Normal"/>
                        <a:ea typeface="思源黑体 Normal"/>
                      </a:endParaRP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dirty="0">
                          <a:solidFill>
                            <a:srgbClr val="000000"/>
                          </a:solidFill>
                          <a:latin typeface="思源黑体 Normal"/>
                          <a:ea typeface="思源黑体 Normal"/>
                        </a:rPr>
                        <a:t>M:N (Optional)</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dirty="0">
                          <a:solidFill>
                            <a:srgbClr val="000000"/>
                          </a:solidFill>
                          <a:latin typeface="思源黑体 Normal"/>
                          <a:ea typeface="思源黑体 Normal"/>
                        </a:rPr>
                        <a:t>One staff member may involve in zero or many maintenances and each maintenance may contain one or many staff.</a:t>
                      </a:r>
                    </a:p>
                  </a:txBody>
                  <a:tcPr marL="57256" marR="57256" marT="28628" marB="28628" anchor="ctr">
                    <a:lnL>
                      <a:noFill/>
                    </a:lnL>
                    <a:lnR>
                      <a:noFill/>
                    </a:lnR>
                    <a:lnT>
                      <a:noFill/>
                    </a:lnT>
                    <a:lnB>
                      <a:noFill/>
                    </a:lnB>
                    <a:solidFill>
                      <a:schemeClr val="accent1">
                        <a:tint val="20000"/>
                      </a:schemeClr>
                    </a:solidFill>
                  </a:tcPr>
                </a:tc>
                <a:extLst>
                  <a:ext uri="{0D108BD9-81ED-4DB2-BD59-A6C34878D82A}">
                    <a16:rowId xmlns:a16="http://schemas.microsoft.com/office/drawing/2014/main" val="10006"/>
                  </a:ext>
                </a:extLst>
              </a:tr>
              <a:tr h="270376">
                <a:tc>
                  <a:txBody>
                    <a:bodyPr/>
                    <a:lstStyle/>
                    <a:p>
                      <a:pPr marL="0" algn="l"/>
                      <a:r>
                        <a:rPr lang="en-US" sz="1127" b="0" i="0" u="none" baseline="0">
                          <a:solidFill>
                            <a:srgbClr val="000000"/>
                          </a:solidFill>
                          <a:latin typeface="思源黑体 Normal"/>
                          <a:ea typeface="思源黑体 Normal"/>
                        </a:rPr>
                        <a:t>Files</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Student - Complain</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1:N (Optional)</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One student may file zero ,one or many complaints and every complaint belongs to one student.</a:t>
                      </a:r>
                    </a:p>
                  </a:txBody>
                  <a:tcPr marL="57256" marR="57256" marT="28628" marB="28628" anchor="ctr">
                    <a:lnL>
                      <a:noFill/>
                    </a:lnL>
                    <a:lnR>
                      <a:noFill/>
                    </a:lnR>
                    <a:lnT>
                      <a:noFill/>
                    </a:lnT>
                    <a:lnB>
                      <a:noFill/>
                    </a:lnB>
                    <a:solidFill>
                      <a:schemeClr val="accent1">
                        <a:tint val="40000"/>
                      </a:schemeClr>
                    </a:solidFill>
                  </a:tcPr>
                </a:tc>
                <a:extLst>
                  <a:ext uri="{0D108BD9-81ED-4DB2-BD59-A6C34878D82A}">
                    <a16:rowId xmlns:a16="http://schemas.microsoft.com/office/drawing/2014/main" val="10007"/>
                  </a:ext>
                </a:extLst>
              </a:tr>
              <a:tr h="270376">
                <a:tc>
                  <a:txBody>
                    <a:bodyPr/>
                    <a:lstStyle/>
                    <a:p>
                      <a:pPr marL="0" algn="l"/>
                      <a:r>
                        <a:rPr lang="en-US" sz="1127" b="0" i="0" u="none" baseline="0">
                          <a:solidFill>
                            <a:srgbClr val="000000"/>
                          </a:solidFill>
                          <a:latin typeface="思源黑体 Normal"/>
                          <a:ea typeface="思源黑体 Normal"/>
                        </a:rPr>
                        <a:t>Related_To</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Room - Complain</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1:N (Optional)</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One room can have zero or more complaints, and each complaint must refer a room.</a:t>
                      </a:r>
                    </a:p>
                  </a:txBody>
                  <a:tcPr marL="57256" marR="57256" marT="28628" marB="28628" anchor="ctr">
                    <a:lnL>
                      <a:noFill/>
                    </a:lnL>
                    <a:lnR>
                      <a:noFill/>
                    </a:lnR>
                    <a:lnT>
                      <a:noFill/>
                    </a:lnT>
                    <a:lnB>
                      <a:noFill/>
                    </a:lnB>
                    <a:solidFill>
                      <a:schemeClr val="accent1">
                        <a:tint val="20000"/>
                      </a:schemeClr>
                    </a:solidFill>
                  </a:tcPr>
                </a:tc>
                <a:extLst>
                  <a:ext uri="{0D108BD9-81ED-4DB2-BD59-A6C34878D82A}">
                    <a16:rowId xmlns:a16="http://schemas.microsoft.com/office/drawing/2014/main" val="10008"/>
                  </a:ext>
                </a:extLst>
              </a:tr>
              <a:tr h="270376">
                <a:tc>
                  <a:txBody>
                    <a:bodyPr/>
                    <a:lstStyle/>
                    <a:p>
                      <a:pPr marL="0" algn="l"/>
                      <a:r>
                        <a:rPr lang="en-US" sz="1127" b="0" i="0" u="none" baseline="0">
                          <a:solidFill>
                            <a:srgbClr val="000000"/>
                          </a:solidFill>
                          <a:latin typeface="思源黑体 Normal"/>
                          <a:ea typeface="思源黑体 Normal"/>
                        </a:rPr>
                        <a:t>Assigned</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Student - Allocation</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1:N (Optional)</a:t>
                      </a:r>
                    </a:p>
                  </a:txBody>
                  <a:tcPr marL="57256" marR="57256" marT="28628" marB="28628" anchor="ctr">
                    <a:lnL>
                      <a:noFill/>
                    </a:lnL>
                    <a:lnR>
                      <a:noFill/>
                    </a:lnR>
                    <a:lnT>
                      <a:noFill/>
                    </a:lnT>
                    <a:lnB>
                      <a:noFill/>
                    </a:lnB>
                    <a:solidFill>
                      <a:schemeClr val="accent1">
                        <a:tint val="40000"/>
                      </a:schemeClr>
                    </a:solidFill>
                  </a:tcPr>
                </a:tc>
                <a:tc>
                  <a:txBody>
                    <a:bodyPr/>
                    <a:lstStyle/>
                    <a:p>
                      <a:pPr marL="0" algn="l"/>
                      <a:r>
                        <a:rPr lang="en-US" sz="1127" b="0" i="0" u="none" baseline="0">
                          <a:solidFill>
                            <a:srgbClr val="000000"/>
                          </a:solidFill>
                          <a:latin typeface="思源黑体 Normal"/>
                          <a:ea typeface="思源黑体 Normal"/>
                        </a:rPr>
                        <a:t>One student may have zero or many allocations over time and each allocation must belong to one student.</a:t>
                      </a:r>
                    </a:p>
                  </a:txBody>
                  <a:tcPr marL="57256" marR="57256" marT="28628" marB="28628" anchor="ctr">
                    <a:lnL>
                      <a:noFill/>
                    </a:lnL>
                    <a:lnR>
                      <a:noFill/>
                    </a:lnR>
                    <a:lnT>
                      <a:noFill/>
                    </a:lnT>
                    <a:lnB>
                      <a:noFill/>
                    </a:lnB>
                    <a:solidFill>
                      <a:schemeClr val="accent1">
                        <a:tint val="40000"/>
                      </a:schemeClr>
                    </a:solidFill>
                  </a:tcPr>
                </a:tc>
                <a:extLst>
                  <a:ext uri="{0D108BD9-81ED-4DB2-BD59-A6C34878D82A}">
                    <a16:rowId xmlns:a16="http://schemas.microsoft.com/office/drawing/2014/main" val="10009"/>
                  </a:ext>
                </a:extLst>
              </a:tr>
              <a:tr h="270376">
                <a:tc>
                  <a:txBody>
                    <a:bodyPr/>
                    <a:lstStyle/>
                    <a:p>
                      <a:pPr marL="0" algn="l"/>
                      <a:r>
                        <a:rPr lang="en-US" sz="1127" b="0" i="0" u="none" baseline="0">
                          <a:solidFill>
                            <a:srgbClr val="000000"/>
                          </a:solidFill>
                          <a:latin typeface="思源黑体 Normal"/>
                          <a:ea typeface="思源黑体 Normal"/>
                        </a:rPr>
                        <a:t>Allocated_to</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Bed - Allocation</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a:solidFill>
                            <a:srgbClr val="000000"/>
                          </a:solidFill>
                          <a:latin typeface="思源黑体 Normal"/>
                          <a:ea typeface="思源黑体 Normal"/>
                        </a:rPr>
                        <a:t>1:N (Optional)</a:t>
                      </a:r>
                    </a:p>
                  </a:txBody>
                  <a:tcPr marL="57256" marR="57256" marT="28628" marB="28628" anchor="ctr">
                    <a:lnL>
                      <a:noFill/>
                    </a:lnL>
                    <a:lnR>
                      <a:noFill/>
                    </a:lnR>
                    <a:lnT>
                      <a:noFill/>
                    </a:lnT>
                    <a:lnB>
                      <a:noFill/>
                    </a:lnB>
                    <a:solidFill>
                      <a:schemeClr val="accent1">
                        <a:tint val="20000"/>
                      </a:schemeClr>
                    </a:solidFill>
                  </a:tcPr>
                </a:tc>
                <a:tc>
                  <a:txBody>
                    <a:bodyPr/>
                    <a:lstStyle/>
                    <a:p>
                      <a:pPr marL="0" algn="l"/>
                      <a:r>
                        <a:rPr lang="en-US" sz="1127" b="0" i="0" u="none" baseline="0" dirty="0">
                          <a:solidFill>
                            <a:srgbClr val="000000"/>
                          </a:solidFill>
                          <a:latin typeface="思源黑体 Normal"/>
                          <a:ea typeface="思源黑体 Normal"/>
                        </a:rPr>
                        <a:t>One bed can participate in many allocations, and every allocation must refer to a bed.</a:t>
                      </a:r>
                    </a:p>
                  </a:txBody>
                  <a:tcPr marL="57256" marR="57256" marT="28628" marB="28628" anchor="ctr">
                    <a:lnL>
                      <a:noFill/>
                    </a:lnL>
                    <a:lnR>
                      <a:noFill/>
                    </a:lnR>
                    <a:lnT>
                      <a:noFill/>
                    </a:lnT>
                    <a:lnB>
                      <a:noFill/>
                    </a:lnB>
                    <a:solidFill>
                      <a:schemeClr val="accent1">
                        <a:tint val="20000"/>
                      </a:schemeClr>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9"/>
          <p:cNvSpPr txBox="1"/>
          <p:nvPr/>
        </p:nvSpPr>
        <p:spPr>
          <a:xfrm>
            <a:off x="699713" y="248038"/>
            <a:ext cx="7063721" cy="1159200"/>
          </a:xfrm>
          <a:prstGeom prst="rect">
            <a:avLst/>
          </a:prstGeom>
        </p:spPr>
        <p:txBody>
          <a:bodyPr vert="horz" lIns="91440" tIns="45720" rIns="91440" bIns="45720" rtlCol="0" anchor="ctr">
            <a:normAutofit/>
          </a:bodyPr>
          <a:lstStyle/>
          <a:p>
            <a:pPr marL="0" indent="0" fontAlgn="auto">
              <a:lnSpc>
                <a:spcPct val="90000"/>
              </a:lnSpc>
              <a:spcBef>
                <a:spcPct val="0"/>
              </a:spcBef>
              <a:spcAft>
                <a:spcPts val="600"/>
              </a:spcAft>
              <a:defRPr/>
            </a:pPr>
            <a:r>
              <a:rPr lang="en-US" sz="3700" b="1" i="0" u="none" kern="1200" baseline="0" dirty="0">
                <a:ln/>
                <a:solidFill>
                  <a:srgbClr val="FFFFFF"/>
                </a:solidFill>
                <a:latin typeface="+mj-lt"/>
                <a:ea typeface="+mj-ea"/>
                <a:cs typeface="+mj-cs"/>
              </a:rPr>
              <a:t>Entity Relationship Diagram (ERD)</a:t>
            </a:r>
            <a:endParaRPr lang="en-US" sz="3700" kern="1200" dirty="0">
              <a:solidFill>
                <a:srgbClr val="FFFFFF"/>
              </a:solidFill>
              <a:latin typeface="+mj-lt"/>
              <a:ea typeface="+mj-ea"/>
              <a:cs typeface="+mj-cs"/>
            </a:endParaRPr>
          </a:p>
        </p:txBody>
      </p:sp>
      <p:pic>
        <p:nvPicPr>
          <p:cNvPr id="11" name="Picture 10">
            <a:extLst>
              <a:ext uri="{FF2B5EF4-FFF2-40B4-BE49-F238E27FC236}">
                <a16:creationId xmlns:a16="http://schemas.microsoft.com/office/drawing/2014/main" id="{FBF296E7-FF44-A6A5-F4D1-ABB6436D43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9440" y="1966293"/>
            <a:ext cx="10793118" cy="4452160"/>
          </a:xfrm>
          <a:prstGeom prst="rect">
            <a:avLst/>
          </a:prstGeom>
        </p:spPr>
      </p:pic>
      <p:sp>
        <p:nvSpPr>
          <p:cNvPr id="8" name="Freeform 8"/>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5" name="Freeform 5"/>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6" name="TextBox 6"/>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Relational Schema Design</a:t>
            </a:r>
            <a:endParaRPr lang="en-US" sz="1100" dirty="0"/>
          </a:p>
        </p:txBody>
      </p:sp>
      <p:sp>
        <p:nvSpPr>
          <p:cNvPr id="7" name="TextBox 6">
            <a:extLst>
              <a:ext uri="{FF2B5EF4-FFF2-40B4-BE49-F238E27FC236}">
                <a16:creationId xmlns:a16="http://schemas.microsoft.com/office/drawing/2014/main" id="{2027F5BB-09F2-F607-08B9-77604F21C3AD}"/>
              </a:ext>
            </a:extLst>
          </p:cNvPr>
          <p:cNvSpPr txBox="1"/>
          <p:nvPr/>
        </p:nvSpPr>
        <p:spPr>
          <a:xfrm>
            <a:off x="1372275" y="1295400"/>
            <a:ext cx="9447450" cy="4619854"/>
          </a:xfrm>
          <a:prstGeom prst="rect">
            <a:avLst/>
          </a:prstGeom>
          <a:noFill/>
        </p:spPr>
        <p:txBody>
          <a:bodyPr wrap="square" rtlCol="0">
            <a:spAutoFit/>
          </a:bodyPr>
          <a:lstStyle/>
          <a:p>
            <a:pPr>
              <a:lnSpc>
                <a:spcPct val="150000"/>
              </a:lnSpc>
            </a:pPr>
            <a:r>
              <a:rPr lang="en-US" b="1" dirty="0">
                <a:solidFill>
                  <a:schemeClr val="bg2"/>
                </a:solidFill>
              </a:rPr>
              <a:t>1) HOSTEL (</a:t>
            </a:r>
            <a:r>
              <a:rPr lang="en-US" b="1" dirty="0" err="1">
                <a:solidFill>
                  <a:schemeClr val="bg2"/>
                </a:solidFill>
              </a:rPr>
              <a:t>hostel_id</a:t>
            </a:r>
            <a:r>
              <a:rPr lang="en-US" b="1" dirty="0">
                <a:solidFill>
                  <a:schemeClr val="bg2"/>
                </a:solidFill>
              </a:rPr>
              <a:t>(PK), </a:t>
            </a:r>
            <a:r>
              <a:rPr lang="en-US" b="1" dirty="0" err="1">
                <a:solidFill>
                  <a:schemeClr val="bg2"/>
                </a:solidFill>
              </a:rPr>
              <a:t>h_name</a:t>
            </a:r>
            <a:r>
              <a:rPr lang="en-US" b="1" dirty="0">
                <a:solidFill>
                  <a:schemeClr val="bg2"/>
                </a:solidFill>
              </a:rPr>
              <a:t>, capacity, location)</a:t>
            </a:r>
          </a:p>
          <a:p>
            <a:pPr>
              <a:lnSpc>
                <a:spcPct val="150000"/>
              </a:lnSpc>
            </a:pPr>
            <a:r>
              <a:rPr lang="en-US" b="1" dirty="0">
                <a:solidFill>
                  <a:schemeClr val="bg2"/>
                </a:solidFill>
              </a:rPr>
              <a:t>2) FLOOR (</a:t>
            </a:r>
            <a:r>
              <a:rPr lang="en-US" b="1" dirty="0" err="1">
                <a:solidFill>
                  <a:schemeClr val="bg2"/>
                </a:solidFill>
              </a:rPr>
              <a:t>floor_id</a:t>
            </a:r>
            <a:r>
              <a:rPr lang="en-US" b="1" dirty="0">
                <a:solidFill>
                  <a:schemeClr val="bg2"/>
                </a:solidFill>
              </a:rPr>
              <a:t>(PK), </a:t>
            </a:r>
            <a:r>
              <a:rPr lang="en-US" b="1" dirty="0" err="1">
                <a:solidFill>
                  <a:schemeClr val="bg2"/>
                </a:solidFill>
              </a:rPr>
              <a:t>hostel_id</a:t>
            </a:r>
            <a:r>
              <a:rPr lang="en-US" b="1" dirty="0">
                <a:solidFill>
                  <a:schemeClr val="bg2"/>
                </a:solidFill>
              </a:rPr>
              <a:t>(FK), </a:t>
            </a:r>
            <a:r>
              <a:rPr lang="en-US" b="1" dirty="0" err="1">
                <a:solidFill>
                  <a:schemeClr val="bg2"/>
                </a:solidFill>
              </a:rPr>
              <a:t>floor_number</a:t>
            </a:r>
            <a:r>
              <a:rPr lang="en-US" b="1" dirty="0">
                <a:solidFill>
                  <a:schemeClr val="bg2"/>
                </a:solidFill>
              </a:rPr>
              <a:t>, </a:t>
            </a:r>
            <a:r>
              <a:rPr lang="en-US" b="1" dirty="0" err="1">
                <a:solidFill>
                  <a:schemeClr val="bg2"/>
                </a:solidFill>
              </a:rPr>
              <a:t>floor_capacity</a:t>
            </a:r>
            <a:r>
              <a:rPr lang="en-US" b="1" dirty="0">
                <a:solidFill>
                  <a:schemeClr val="bg2"/>
                </a:solidFill>
              </a:rPr>
              <a:t>) </a:t>
            </a:r>
          </a:p>
          <a:p>
            <a:pPr>
              <a:lnSpc>
                <a:spcPct val="150000"/>
              </a:lnSpc>
            </a:pPr>
            <a:r>
              <a:rPr lang="en-US" b="1" dirty="0">
                <a:solidFill>
                  <a:schemeClr val="bg2"/>
                </a:solidFill>
              </a:rPr>
              <a:t>3) ROOM (</a:t>
            </a:r>
            <a:r>
              <a:rPr lang="en-US" b="1" dirty="0" err="1">
                <a:solidFill>
                  <a:schemeClr val="bg2"/>
                </a:solidFill>
              </a:rPr>
              <a:t>room_id</a:t>
            </a:r>
            <a:r>
              <a:rPr lang="en-US" b="1" dirty="0">
                <a:solidFill>
                  <a:schemeClr val="bg2"/>
                </a:solidFill>
              </a:rPr>
              <a:t>(PK), </a:t>
            </a:r>
            <a:r>
              <a:rPr lang="en-US" b="1" dirty="0" err="1">
                <a:solidFill>
                  <a:schemeClr val="bg2"/>
                </a:solidFill>
              </a:rPr>
              <a:t>floor_id</a:t>
            </a:r>
            <a:r>
              <a:rPr lang="en-US" b="1" dirty="0">
                <a:solidFill>
                  <a:schemeClr val="bg2"/>
                </a:solidFill>
              </a:rPr>
              <a:t>(FK), </a:t>
            </a:r>
            <a:r>
              <a:rPr lang="en-US" b="1" dirty="0" err="1">
                <a:solidFill>
                  <a:schemeClr val="bg2"/>
                </a:solidFill>
              </a:rPr>
              <a:t>room_type</a:t>
            </a:r>
            <a:r>
              <a:rPr lang="en-US" b="1" dirty="0">
                <a:solidFill>
                  <a:schemeClr val="bg2"/>
                </a:solidFill>
              </a:rPr>
              <a:t>, </a:t>
            </a:r>
            <a:r>
              <a:rPr lang="en-US" b="1" dirty="0" err="1">
                <a:solidFill>
                  <a:schemeClr val="bg2"/>
                </a:solidFill>
              </a:rPr>
              <a:t>room_capacity</a:t>
            </a:r>
            <a:r>
              <a:rPr lang="en-US" b="1" dirty="0">
                <a:solidFill>
                  <a:schemeClr val="bg2"/>
                </a:solidFill>
              </a:rPr>
              <a:t>) </a:t>
            </a:r>
          </a:p>
          <a:p>
            <a:pPr>
              <a:lnSpc>
                <a:spcPct val="150000"/>
              </a:lnSpc>
            </a:pPr>
            <a:r>
              <a:rPr lang="en-US" b="1" dirty="0">
                <a:solidFill>
                  <a:schemeClr val="bg2"/>
                </a:solidFill>
              </a:rPr>
              <a:t>4) BED (</a:t>
            </a:r>
            <a:r>
              <a:rPr lang="en-US" b="1" dirty="0" err="1">
                <a:solidFill>
                  <a:schemeClr val="bg2"/>
                </a:solidFill>
              </a:rPr>
              <a:t>bed_id</a:t>
            </a:r>
            <a:r>
              <a:rPr lang="en-US" b="1" dirty="0">
                <a:solidFill>
                  <a:schemeClr val="bg2"/>
                </a:solidFill>
              </a:rPr>
              <a:t>(PK), </a:t>
            </a:r>
            <a:r>
              <a:rPr lang="en-US" b="1" dirty="0" err="1">
                <a:solidFill>
                  <a:schemeClr val="bg2"/>
                </a:solidFill>
              </a:rPr>
              <a:t>room_id</a:t>
            </a:r>
            <a:r>
              <a:rPr lang="en-US" b="1" dirty="0">
                <a:solidFill>
                  <a:schemeClr val="bg2"/>
                </a:solidFill>
              </a:rPr>
              <a:t>(FK), </a:t>
            </a:r>
            <a:r>
              <a:rPr lang="en-US" b="1" dirty="0" err="1">
                <a:solidFill>
                  <a:schemeClr val="bg2"/>
                </a:solidFill>
              </a:rPr>
              <a:t>bed_number</a:t>
            </a:r>
            <a:r>
              <a:rPr lang="en-US" b="1" dirty="0">
                <a:solidFill>
                  <a:schemeClr val="bg2"/>
                </a:solidFill>
              </a:rPr>
              <a:t>, </a:t>
            </a:r>
            <a:r>
              <a:rPr lang="en-US" b="1" dirty="0" err="1">
                <a:solidFill>
                  <a:schemeClr val="bg2"/>
                </a:solidFill>
              </a:rPr>
              <a:t>bed_status</a:t>
            </a:r>
            <a:r>
              <a:rPr lang="en-US" b="1" dirty="0">
                <a:solidFill>
                  <a:schemeClr val="bg2"/>
                </a:solidFill>
              </a:rPr>
              <a:t>, rent) </a:t>
            </a:r>
          </a:p>
          <a:p>
            <a:pPr>
              <a:lnSpc>
                <a:spcPct val="150000"/>
              </a:lnSpc>
            </a:pPr>
            <a:r>
              <a:rPr lang="en-US" b="1" dirty="0">
                <a:solidFill>
                  <a:schemeClr val="bg2"/>
                </a:solidFill>
              </a:rPr>
              <a:t>5) STUDENT (</a:t>
            </a:r>
            <a:r>
              <a:rPr lang="en-US" b="1" dirty="0" err="1">
                <a:solidFill>
                  <a:schemeClr val="bg2"/>
                </a:solidFill>
              </a:rPr>
              <a:t>student_id</a:t>
            </a:r>
            <a:r>
              <a:rPr lang="en-US" b="1" dirty="0">
                <a:solidFill>
                  <a:schemeClr val="bg2"/>
                </a:solidFill>
              </a:rPr>
              <a:t>(PK),</a:t>
            </a:r>
            <a:r>
              <a:rPr lang="en-US" b="1" dirty="0" err="1">
                <a:solidFill>
                  <a:schemeClr val="bg2"/>
                </a:solidFill>
              </a:rPr>
              <a:t>s_name</a:t>
            </a:r>
            <a:r>
              <a:rPr lang="en-US" b="1" dirty="0">
                <a:solidFill>
                  <a:schemeClr val="bg2"/>
                </a:solidFill>
              </a:rPr>
              <a:t>, </a:t>
            </a:r>
            <a:r>
              <a:rPr lang="en-US" b="1" dirty="0" err="1">
                <a:solidFill>
                  <a:schemeClr val="bg2"/>
                </a:solidFill>
              </a:rPr>
              <a:t>s_email</a:t>
            </a:r>
            <a:r>
              <a:rPr lang="en-US" b="1" dirty="0">
                <a:solidFill>
                  <a:schemeClr val="bg2"/>
                </a:solidFill>
              </a:rPr>
              <a:t>, </a:t>
            </a:r>
            <a:r>
              <a:rPr lang="en-US" b="1" dirty="0" err="1">
                <a:solidFill>
                  <a:schemeClr val="bg2"/>
                </a:solidFill>
              </a:rPr>
              <a:t>s_phone</a:t>
            </a:r>
            <a:r>
              <a:rPr lang="en-US" b="1" dirty="0">
                <a:solidFill>
                  <a:schemeClr val="bg2"/>
                </a:solidFill>
              </a:rPr>
              <a:t>, </a:t>
            </a:r>
            <a:r>
              <a:rPr lang="en-US" b="1" dirty="0" err="1">
                <a:solidFill>
                  <a:schemeClr val="bg2"/>
                </a:solidFill>
              </a:rPr>
              <a:t>s_address</a:t>
            </a:r>
            <a:r>
              <a:rPr lang="en-US" b="1" dirty="0">
                <a:solidFill>
                  <a:schemeClr val="bg2"/>
                </a:solidFill>
              </a:rPr>
              <a:t>, department) </a:t>
            </a:r>
          </a:p>
          <a:p>
            <a:pPr>
              <a:lnSpc>
                <a:spcPct val="150000"/>
              </a:lnSpc>
            </a:pPr>
            <a:r>
              <a:rPr lang="en-US" b="1" dirty="0">
                <a:solidFill>
                  <a:schemeClr val="bg2"/>
                </a:solidFill>
              </a:rPr>
              <a:t>6) COMPLAIN (</a:t>
            </a:r>
            <a:r>
              <a:rPr lang="en-US" b="1" dirty="0" err="1">
                <a:solidFill>
                  <a:schemeClr val="bg2"/>
                </a:solidFill>
              </a:rPr>
              <a:t>complaint_id</a:t>
            </a:r>
            <a:r>
              <a:rPr lang="en-US" b="1" dirty="0">
                <a:solidFill>
                  <a:schemeClr val="bg2"/>
                </a:solidFill>
              </a:rPr>
              <a:t>(PK), </a:t>
            </a:r>
            <a:r>
              <a:rPr lang="en-US" b="1" dirty="0" err="1">
                <a:solidFill>
                  <a:schemeClr val="bg2"/>
                </a:solidFill>
              </a:rPr>
              <a:t>student_id</a:t>
            </a:r>
            <a:r>
              <a:rPr lang="en-US" b="1" dirty="0">
                <a:solidFill>
                  <a:schemeClr val="bg2"/>
                </a:solidFill>
              </a:rPr>
              <a:t>(FK), </a:t>
            </a:r>
            <a:r>
              <a:rPr lang="en-US" b="1" dirty="0" err="1">
                <a:solidFill>
                  <a:schemeClr val="bg2"/>
                </a:solidFill>
              </a:rPr>
              <a:t>room_id</a:t>
            </a:r>
            <a:r>
              <a:rPr lang="en-US" b="1" dirty="0">
                <a:solidFill>
                  <a:schemeClr val="bg2"/>
                </a:solidFill>
              </a:rPr>
              <a:t>(FK), </a:t>
            </a:r>
            <a:r>
              <a:rPr lang="en-US" b="1" dirty="0" err="1">
                <a:solidFill>
                  <a:schemeClr val="bg2"/>
                </a:solidFill>
              </a:rPr>
              <a:t>complaint_text</a:t>
            </a:r>
            <a:r>
              <a:rPr lang="en-US" b="1" dirty="0">
                <a:solidFill>
                  <a:schemeClr val="bg2"/>
                </a:solidFill>
              </a:rPr>
              <a:t>, </a:t>
            </a:r>
            <a:r>
              <a:rPr lang="en-US" b="1" dirty="0" err="1">
                <a:solidFill>
                  <a:schemeClr val="bg2"/>
                </a:solidFill>
              </a:rPr>
              <a:t>complaint_date</a:t>
            </a:r>
            <a:r>
              <a:rPr lang="en-US" b="1" dirty="0">
                <a:solidFill>
                  <a:schemeClr val="bg2"/>
                </a:solidFill>
              </a:rPr>
              <a:t>) </a:t>
            </a:r>
          </a:p>
          <a:p>
            <a:pPr>
              <a:lnSpc>
                <a:spcPct val="150000"/>
              </a:lnSpc>
            </a:pPr>
            <a:r>
              <a:rPr lang="en-US" b="1" dirty="0">
                <a:solidFill>
                  <a:schemeClr val="bg2"/>
                </a:solidFill>
              </a:rPr>
              <a:t>7) PAYMENT (</a:t>
            </a:r>
            <a:r>
              <a:rPr lang="en-US" b="1" dirty="0" err="1">
                <a:solidFill>
                  <a:schemeClr val="bg2"/>
                </a:solidFill>
              </a:rPr>
              <a:t>payment_id</a:t>
            </a:r>
            <a:r>
              <a:rPr lang="en-US" b="1" dirty="0">
                <a:solidFill>
                  <a:schemeClr val="bg2"/>
                </a:solidFill>
              </a:rPr>
              <a:t>(PK), </a:t>
            </a:r>
            <a:r>
              <a:rPr lang="en-US" b="1" dirty="0" err="1">
                <a:solidFill>
                  <a:schemeClr val="bg2"/>
                </a:solidFill>
              </a:rPr>
              <a:t>student_id</a:t>
            </a:r>
            <a:r>
              <a:rPr lang="en-US" b="1" dirty="0">
                <a:solidFill>
                  <a:schemeClr val="bg2"/>
                </a:solidFill>
              </a:rPr>
              <a:t>(FK), </a:t>
            </a:r>
            <a:r>
              <a:rPr lang="en-US" b="1" dirty="0" err="1">
                <a:solidFill>
                  <a:schemeClr val="bg2"/>
                </a:solidFill>
              </a:rPr>
              <a:t>payment_date</a:t>
            </a:r>
            <a:r>
              <a:rPr lang="en-US" b="1" dirty="0">
                <a:solidFill>
                  <a:schemeClr val="bg2"/>
                </a:solidFill>
              </a:rPr>
              <a:t>, amount, method) </a:t>
            </a:r>
          </a:p>
          <a:p>
            <a:pPr>
              <a:lnSpc>
                <a:spcPct val="150000"/>
              </a:lnSpc>
            </a:pPr>
            <a:r>
              <a:rPr lang="en-US" b="1" dirty="0">
                <a:solidFill>
                  <a:schemeClr val="bg2"/>
                </a:solidFill>
              </a:rPr>
              <a:t>8) ALLOCATION (</a:t>
            </a:r>
            <a:r>
              <a:rPr lang="en-US" b="1" dirty="0" err="1">
                <a:solidFill>
                  <a:schemeClr val="bg2"/>
                </a:solidFill>
              </a:rPr>
              <a:t>allocation_id</a:t>
            </a:r>
            <a:r>
              <a:rPr lang="en-US" b="1" dirty="0">
                <a:solidFill>
                  <a:schemeClr val="bg2"/>
                </a:solidFill>
              </a:rPr>
              <a:t>(PK), </a:t>
            </a:r>
            <a:r>
              <a:rPr lang="en-US" b="1" dirty="0" err="1">
                <a:solidFill>
                  <a:schemeClr val="bg2"/>
                </a:solidFill>
              </a:rPr>
              <a:t>student_id</a:t>
            </a:r>
            <a:r>
              <a:rPr lang="en-US" b="1" dirty="0">
                <a:solidFill>
                  <a:schemeClr val="bg2"/>
                </a:solidFill>
              </a:rPr>
              <a:t>(FK), </a:t>
            </a:r>
            <a:r>
              <a:rPr lang="en-US" b="1" dirty="0" err="1">
                <a:solidFill>
                  <a:schemeClr val="bg2"/>
                </a:solidFill>
              </a:rPr>
              <a:t>bed_id</a:t>
            </a:r>
            <a:r>
              <a:rPr lang="en-US" b="1" dirty="0">
                <a:solidFill>
                  <a:schemeClr val="bg2"/>
                </a:solidFill>
              </a:rPr>
              <a:t>(FK), </a:t>
            </a:r>
            <a:r>
              <a:rPr lang="en-US" b="1" dirty="0" err="1">
                <a:solidFill>
                  <a:schemeClr val="bg2"/>
                </a:solidFill>
              </a:rPr>
              <a:t>start_date</a:t>
            </a:r>
            <a:r>
              <a:rPr lang="en-US" b="1" dirty="0">
                <a:solidFill>
                  <a:schemeClr val="bg2"/>
                </a:solidFill>
              </a:rPr>
              <a:t>, </a:t>
            </a:r>
            <a:r>
              <a:rPr lang="en-US" b="1" dirty="0" err="1">
                <a:solidFill>
                  <a:schemeClr val="bg2"/>
                </a:solidFill>
              </a:rPr>
              <a:t>end_date</a:t>
            </a:r>
            <a:r>
              <a:rPr lang="en-US" b="1" dirty="0">
                <a:solidFill>
                  <a:schemeClr val="bg2"/>
                </a:solidFill>
              </a:rPr>
              <a:t>, status) </a:t>
            </a:r>
          </a:p>
          <a:p>
            <a:pPr>
              <a:lnSpc>
                <a:spcPct val="150000"/>
              </a:lnSpc>
            </a:pPr>
            <a:r>
              <a:rPr lang="en-US" b="1" dirty="0">
                <a:solidFill>
                  <a:schemeClr val="bg2"/>
                </a:solidFill>
              </a:rPr>
              <a:t>9) STAFF (</a:t>
            </a:r>
            <a:r>
              <a:rPr lang="en-US" b="1" dirty="0" err="1">
                <a:solidFill>
                  <a:schemeClr val="bg2"/>
                </a:solidFill>
              </a:rPr>
              <a:t>staff_id</a:t>
            </a:r>
            <a:r>
              <a:rPr lang="en-US" b="1" dirty="0">
                <a:solidFill>
                  <a:schemeClr val="bg2"/>
                </a:solidFill>
              </a:rPr>
              <a:t>(PK), </a:t>
            </a:r>
            <a:r>
              <a:rPr lang="en-US" b="1" dirty="0" err="1">
                <a:solidFill>
                  <a:schemeClr val="bg2"/>
                </a:solidFill>
              </a:rPr>
              <a:t>staff_name</a:t>
            </a:r>
            <a:r>
              <a:rPr lang="en-US" b="1" dirty="0">
                <a:solidFill>
                  <a:schemeClr val="bg2"/>
                </a:solidFill>
              </a:rPr>
              <a:t>, </a:t>
            </a:r>
            <a:r>
              <a:rPr lang="en-US" b="1" dirty="0" err="1">
                <a:solidFill>
                  <a:schemeClr val="bg2"/>
                </a:solidFill>
              </a:rPr>
              <a:t>staff_role</a:t>
            </a:r>
            <a:r>
              <a:rPr lang="en-US" b="1" dirty="0">
                <a:solidFill>
                  <a:schemeClr val="bg2"/>
                </a:solidFill>
              </a:rPr>
              <a:t>, phone, shift) </a:t>
            </a:r>
          </a:p>
          <a:p>
            <a:pPr>
              <a:lnSpc>
                <a:spcPct val="150000"/>
              </a:lnSpc>
            </a:pPr>
            <a:r>
              <a:rPr lang="en-US" b="1" dirty="0">
                <a:solidFill>
                  <a:schemeClr val="bg2"/>
                </a:solidFill>
              </a:rPr>
              <a:t>10) MAINTENANCE_REQUEST (</a:t>
            </a:r>
            <a:r>
              <a:rPr lang="en-US" b="1" dirty="0" err="1">
                <a:solidFill>
                  <a:schemeClr val="bg2"/>
                </a:solidFill>
              </a:rPr>
              <a:t>request_id</a:t>
            </a:r>
            <a:r>
              <a:rPr lang="en-US" b="1" dirty="0">
                <a:solidFill>
                  <a:schemeClr val="bg2"/>
                </a:solidFill>
              </a:rPr>
              <a:t>(PK), </a:t>
            </a:r>
            <a:r>
              <a:rPr lang="en-US" b="1" dirty="0" err="1">
                <a:solidFill>
                  <a:schemeClr val="bg2"/>
                </a:solidFill>
              </a:rPr>
              <a:t>room_id</a:t>
            </a:r>
            <a:r>
              <a:rPr lang="en-US" b="1" dirty="0">
                <a:solidFill>
                  <a:schemeClr val="bg2"/>
                </a:solidFill>
              </a:rPr>
              <a:t>(FK), </a:t>
            </a:r>
            <a:r>
              <a:rPr lang="en-US" b="1" dirty="0" err="1">
                <a:solidFill>
                  <a:schemeClr val="bg2"/>
                </a:solidFill>
              </a:rPr>
              <a:t>request_date</a:t>
            </a:r>
            <a:r>
              <a:rPr lang="en-US" b="1" dirty="0">
                <a:solidFill>
                  <a:schemeClr val="bg2"/>
                </a:solidFill>
              </a:rPr>
              <a:t>, description, </a:t>
            </a:r>
            <a:r>
              <a:rPr lang="en-US" b="1" dirty="0" err="1">
                <a:solidFill>
                  <a:schemeClr val="bg2"/>
                </a:solidFill>
              </a:rPr>
              <a:t>m_status</a:t>
            </a:r>
            <a:r>
              <a:rPr lang="en-US" b="1" dirty="0">
                <a:solidFill>
                  <a:schemeClr val="bg2"/>
                </a:solidFill>
              </a:rPr>
              <a:t>) </a:t>
            </a:r>
          </a:p>
          <a:p>
            <a:pPr>
              <a:lnSpc>
                <a:spcPct val="150000"/>
              </a:lnSpc>
            </a:pPr>
            <a:r>
              <a:rPr lang="en-US" b="1" dirty="0">
                <a:solidFill>
                  <a:schemeClr val="bg2"/>
                </a:solidFill>
              </a:rPr>
              <a:t>11) STAFF_MAINTENANCE (</a:t>
            </a:r>
            <a:r>
              <a:rPr lang="en-US" b="1" dirty="0" err="1">
                <a:solidFill>
                  <a:schemeClr val="bg2"/>
                </a:solidFill>
              </a:rPr>
              <a:t>staff_id</a:t>
            </a:r>
            <a:r>
              <a:rPr lang="en-US" b="1" dirty="0">
                <a:solidFill>
                  <a:schemeClr val="bg2"/>
                </a:solidFill>
              </a:rPr>
              <a:t>(FK), </a:t>
            </a:r>
            <a:r>
              <a:rPr lang="en-US" b="1" dirty="0" err="1">
                <a:solidFill>
                  <a:schemeClr val="bg2"/>
                </a:solidFill>
              </a:rPr>
              <a:t>request_id</a:t>
            </a:r>
            <a:r>
              <a:rPr lang="en-US" b="1" dirty="0">
                <a:solidFill>
                  <a:schemeClr val="bg2"/>
                </a:solidFill>
              </a:rPr>
              <a:t>(FK))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Freeform 2"/>
          <p:cNvSpPr/>
          <p:nvPr/>
        </p:nvSpPr>
        <p:spPr>
          <a:xfrm rot="7697511">
            <a:off x="7518101" y="3076646"/>
            <a:ext cx="4547187" cy="2296043"/>
          </a:xfrm>
          <a:custGeom>
            <a:avLst/>
            <a:gdLst/>
            <a:ahLst/>
            <a:cxnLst/>
            <a:rect l="l" t="t" r="r" b="b"/>
            <a:pathLst>
              <a:path w="2249936" h="1136076">
                <a:moveTo>
                  <a:pt x="58" y="1136076"/>
                </a:moveTo>
                <a:cubicBezTo>
                  <a:pt x="-6169" y="514639"/>
                  <a:pt x="492725" y="6031"/>
                  <a:pt x="1113913" y="53"/>
                </a:cubicBezTo>
                <a:cubicBezTo>
                  <a:pt x="1735102" y="-5925"/>
                  <a:pt x="2243959" y="492720"/>
                  <a:pt x="2249937" y="1113909"/>
                </a:cubicBezTo>
              </a:path>
            </a:pathLst>
          </a:custGeom>
          <a:noFill/>
          <a:ln w="9525" cap="flat">
            <a:solidFill>
              <a:schemeClr val="accent1"/>
            </a:solidFill>
            <a:prstDash val="solid"/>
            <a:miter lim="800000"/>
          </a:ln>
        </p:spPr>
        <p:txBody>
          <a:bodyPr vert="horz" lIns="91440" tIns="45720" rIns="91440" bIns="45720" anchor="ctr"/>
          <a:lstStyle/>
          <a:p>
            <a:pPr marL="0" algn="l"/>
            <a:endParaRPr/>
          </a:p>
        </p:txBody>
      </p:sp>
      <p:sp>
        <p:nvSpPr>
          <p:cNvPr id="3" name="AutoShape 3"/>
          <p:cNvSpPr/>
          <p:nvPr/>
        </p:nvSpPr>
        <p:spPr>
          <a:xfrm rot="20405484">
            <a:off x="7361315" y="5194202"/>
            <a:ext cx="240930" cy="240930"/>
          </a:xfrm>
          <a:prstGeom prst="ellipse">
            <a:avLst/>
          </a:prstGeom>
          <a:solidFill>
            <a:srgbClr val="E5A744"/>
          </a:solidFill>
          <a:ln>
            <a:noFill/>
          </a:ln>
        </p:spPr>
        <p:txBody>
          <a:bodyPr vert="horz" lIns="91440" tIns="45720" rIns="91440" bIns="45720" anchor="ctr"/>
          <a:lstStyle/>
          <a:p>
            <a:pPr marL="0" algn="ctr"/>
            <a:endParaRPr/>
          </a:p>
        </p:txBody>
      </p:sp>
      <p:sp>
        <p:nvSpPr>
          <p:cNvPr id="4" name="AutoShape 4"/>
          <p:cNvSpPr/>
          <p:nvPr/>
        </p:nvSpPr>
        <p:spPr>
          <a:xfrm rot="20405484">
            <a:off x="10230193" y="1655872"/>
            <a:ext cx="167489" cy="167489"/>
          </a:xfrm>
          <a:prstGeom prst="ellipse">
            <a:avLst/>
          </a:prstGeom>
          <a:solidFill>
            <a:srgbClr val="E5A744"/>
          </a:solidFill>
          <a:ln>
            <a:noFill/>
          </a:ln>
        </p:spPr>
        <p:txBody>
          <a:bodyPr vert="horz" lIns="91440" tIns="45720" rIns="91440" bIns="45720" anchor="ctr"/>
          <a:lstStyle/>
          <a:p>
            <a:pPr marL="0" algn="ctr"/>
            <a:endParaRPr/>
          </a:p>
        </p:txBody>
      </p:sp>
      <p:sp>
        <p:nvSpPr>
          <p:cNvPr id="6" name="AutoShape 6"/>
          <p:cNvSpPr/>
          <p:nvPr/>
        </p:nvSpPr>
        <p:spPr>
          <a:xfrm>
            <a:off x="10771929" y="5468954"/>
            <a:ext cx="167489" cy="167489"/>
          </a:xfrm>
          <a:prstGeom prst="ellipse">
            <a:avLst/>
          </a:prstGeom>
          <a:solidFill>
            <a:srgbClr val="E5A744"/>
          </a:solidFill>
          <a:ln>
            <a:noFill/>
          </a:ln>
        </p:spPr>
        <p:txBody>
          <a:bodyPr vert="horz" lIns="91440" tIns="45720" rIns="91440" bIns="45720" anchor="ctr"/>
          <a:lstStyle/>
          <a:p>
            <a:pPr marL="0" algn="ctr"/>
            <a:endParaRPr/>
          </a:p>
        </p:txBody>
      </p:sp>
      <p:grpSp>
        <p:nvGrpSpPr>
          <p:cNvPr id="7" name="Group 7"/>
          <p:cNvGrpSpPr/>
          <p:nvPr/>
        </p:nvGrpSpPr>
        <p:grpSpPr>
          <a:xfrm>
            <a:off x="828040" y="1846875"/>
            <a:ext cx="5048250" cy="3401060"/>
            <a:chOff x="1304" y="2908"/>
            <a:chExt cx="7950" cy="5356"/>
          </a:xfrm>
        </p:grpSpPr>
        <p:sp>
          <p:nvSpPr>
            <p:cNvPr id="8" name="TextBox 8"/>
            <p:cNvSpPr txBox="1"/>
            <p:nvPr/>
          </p:nvSpPr>
          <p:spPr>
            <a:xfrm>
              <a:off x="1304" y="3738"/>
              <a:ext cx="7937" cy="4526"/>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600" b="0" i="0" u="none" baseline="0" dirty="0">
                  <a:solidFill>
                    <a:srgbClr val="FFFFFF"/>
                  </a:solidFill>
                  <a:latin typeface="思源黑体 Normal"/>
                  <a:ea typeface="思源黑体 Normal"/>
                </a:rPr>
                <a:t>The database is normalized up to 4NF to minimize redundancy and improve data integrity. 1NF ensures atomic values, 2NF eliminates partial dependencies, 3NF removes transitive dependencies, and 4NF handles multi-valued dependencies using separate tables like STAFF_MAINTENANCE.</a:t>
              </a:r>
              <a:endParaRPr lang="en-US" sz="1100" dirty="0"/>
            </a:p>
          </p:txBody>
        </p:sp>
        <p:sp>
          <p:nvSpPr>
            <p:cNvPr id="9" name="TextBox 9"/>
            <p:cNvSpPr txBox="1"/>
            <p:nvPr/>
          </p:nvSpPr>
          <p:spPr>
            <a:xfrm>
              <a:off x="1317" y="2908"/>
              <a:ext cx="7937" cy="850"/>
            </a:xfrm>
            <a:prstGeom prst="rect">
              <a:avLst/>
            </a:prstGeom>
            <a:noFill/>
          </p:spPr>
          <p:txBody>
            <a:bodyPr vert="horz" wrap="square" lIns="90170" tIns="46990" rIns="90170" bIns="46990" rtlCol="0" anchor="ctr">
              <a:normAutofit/>
            </a:bodyPr>
            <a:lstStyle/>
            <a:p>
              <a:pPr marL="0" indent="0" algn="l" fontAlgn="auto">
                <a:lnSpc>
                  <a:spcPct val="110000"/>
                </a:lnSpc>
                <a:defRPr/>
              </a:pPr>
              <a:r>
                <a:rPr lang="en-US" sz="2000" b="1" i="0" u="none" baseline="0" dirty="0">
                  <a:solidFill>
                    <a:srgbClr val="E5A744"/>
                  </a:solidFill>
                  <a:latin typeface="思源黑体 Normal"/>
                  <a:ea typeface="思源黑体 Normal"/>
                </a:rPr>
                <a:t>Normalization to 4NF</a:t>
              </a:r>
              <a:endParaRPr lang="en-US" sz="1100" dirty="0"/>
            </a:p>
          </p:txBody>
        </p:sp>
      </p:grpSp>
      <p:sp>
        <p:nvSpPr>
          <p:cNvPr id="10" name="Freeform 10"/>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11" name="TextBox 11"/>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Database Normalization Process</a:t>
            </a:r>
            <a:endParaRPr lang="en-US" sz="1100" dirty="0"/>
          </a:p>
        </p:txBody>
      </p:sp>
      <p:sp>
        <p:nvSpPr>
          <p:cNvPr id="12" name="AutoShape 12"/>
          <p:cNvSpPr/>
          <p:nvPr/>
        </p:nvSpPr>
        <p:spPr>
          <a:xfrm>
            <a:off x="6172573" y="771847"/>
            <a:ext cx="5538415" cy="5538415"/>
          </a:xfrm>
          <a:prstGeom prst="ellipse">
            <a:avLst/>
          </a:prstGeom>
          <a:noFill/>
          <a:ln w="9525">
            <a:solidFill>
              <a:schemeClr val="accent1"/>
            </a:solidFill>
          </a:ln>
        </p:spPr>
        <p:txBody>
          <a:bodyPr vert="horz" lIns="91440" tIns="45720" rIns="91440" bIns="45720" anchor="ctr"/>
          <a:lstStyle/>
          <a:p>
            <a:pPr marL="0" algn="ctr"/>
            <a:endParaRPr/>
          </a:p>
        </p:txBody>
      </p:sp>
      <p:sp>
        <p:nvSpPr>
          <p:cNvPr id="13" name="AutoShape 13"/>
          <p:cNvSpPr/>
          <p:nvPr/>
        </p:nvSpPr>
        <p:spPr>
          <a:xfrm>
            <a:off x="6538384" y="1497281"/>
            <a:ext cx="582202" cy="582202"/>
          </a:xfrm>
          <a:prstGeom prst="ellipse">
            <a:avLst/>
          </a:prstGeom>
          <a:solidFill>
            <a:srgbClr val="E5A744"/>
          </a:solidFill>
          <a:ln>
            <a:noFill/>
          </a:ln>
        </p:spPr>
        <p:txBody>
          <a:bodyPr vert="horz" lIns="91440" tIns="45720" rIns="91440" bIns="45720" anchor="ctr"/>
          <a:lstStyle/>
          <a:p>
            <a:pPr marL="0" algn="ctr"/>
            <a:endParaRPr/>
          </a:p>
        </p:txBody>
      </p:sp>
      <p:pic>
        <p:nvPicPr>
          <p:cNvPr id="15" name="Picture 14">
            <a:extLst>
              <a:ext uri="{FF2B5EF4-FFF2-40B4-BE49-F238E27FC236}">
                <a16:creationId xmlns:a16="http://schemas.microsoft.com/office/drawing/2014/main" id="{6A9268B9-585A-88DA-8D7C-15CD941FB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282" y="1426382"/>
            <a:ext cx="4915161" cy="399434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0083223" y="694720"/>
            <a:ext cx="1140903" cy="1140903"/>
          </a:xfrm>
          <a:custGeom>
            <a:avLst/>
            <a:gdLst/>
            <a:ahLst/>
            <a:cxnLst/>
            <a:rect l="l" t="t" r="r" b="b"/>
            <a:pathLst>
              <a:path w="1384798" h="1384798">
                <a:moveTo>
                  <a:pt x="1384799" y="692399"/>
                </a:moveTo>
                <a:cubicBezTo>
                  <a:pt x="1384799" y="1074801"/>
                  <a:pt x="1074801" y="1384799"/>
                  <a:pt x="692399" y="1384799"/>
                </a:cubicBezTo>
                <a:cubicBezTo>
                  <a:pt x="309998" y="1384799"/>
                  <a:pt x="0" y="1074801"/>
                  <a:pt x="0" y="692399"/>
                </a:cubicBezTo>
                <a:cubicBezTo>
                  <a:pt x="0" y="309998"/>
                  <a:pt x="309998" y="0"/>
                  <a:pt x="692399" y="0"/>
                </a:cubicBezTo>
                <a:cubicBezTo>
                  <a:pt x="1074801" y="0"/>
                  <a:pt x="1384799" y="309998"/>
                  <a:pt x="1384799" y="692399"/>
                </a:cubicBezTo>
                <a:close/>
              </a:path>
            </a:pathLst>
          </a:custGeom>
          <a:gradFill flip="none" rotWithShape="1">
            <a:gsLst>
              <a:gs pos="0">
                <a:schemeClr val="accent3">
                  <a:alpha val="0"/>
                  <a:lumMod val="0"/>
                  <a:lumOff val="100000"/>
                </a:schemeClr>
              </a:gs>
              <a:gs pos="46000">
                <a:schemeClr val="accent3">
                  <a:alpha val="35000"/>
                  <a:lumMod val="20000"/>
                  <a:lumOff val="80000"/>
                </a:schemeClr>
              </a:gs>
              <a:gs pos="74000">
                <a:schemeClr val="accent3">
                  <a:lumMod val="100000"/>
                </a:schemeClr>
              </a:gs>
            </a:gsLst>
            <a:path path="circle">
              <a:fillToRect t="100000" r="100000"/>
            </a:path>
            <a:tileRect l="-100000" b="-100000"/>
          </a:gradFill>
          <a:ln cap="flat">
            <a:noFill/>
            <a:prstDash val="solid"/>
            <a:miter lim="800000"/>
          </a:ln>
        </p:spPr>
        <p:txBody>
          <a:bodyPr vert="horz" lIns="91440" tIns="45720" rIns="91440" bIns="45720" anchor="ctr"/>
          <a:lstStyle/>
          <a:p>
            <a:pPr marL="0" algn="l"/>
            <a:endParaRPr/>
          </a:p>
        </p:txBody>
      </p:sp>
      <p:sp>
        <p:nvSpPr>
          <p:cNvPr id="3" name="Freeform 3"/>
          <p:cNvSpPr/>
          <p:nvPr/>
        </p:nvSpPr>
        <p:spPr>
          <a:xfrm>
            <a:off x="6931527" y="5210315"/>
            <a:ext cx="667320" cy="667320"/>
          </a:xfrm>
          <a:custGeom>
            <a:avLst/>
            <a:gdLst/>
            <a:ahLst/>
            <a:cxnLst/>
            <a:rect l="l" t="t" r="r" b="b"/>
            <a:pathLst>
              <a:path w="591398" h="591398">
                <a:moveTo>
                  <a:pt x="591399" y="295699"/>
                </a:moveTo>
                <a:cubicBezTo>
                  <a:pt x="591399" y="459010"/>
                  <a:pt x="459010" y="591399"/>
                  <a:pt x="295699" y="591399"/>
                </a:cubicBezTo>
                <a:cubicBezTo>
                  <a:pt x="132389" y="591399"/>
                  <a:pt x="0" y="459010"/>
                  <a:pt x="0" y="295699"/>
                </a:cubicBezTo>
                <a:cubicBezTo>
                  <a:pt x="0" y="132389"/>
                  <a:pt x="132389" y="0"/>
                  <a:pt x="295699" y="0"/>
                </a:cubicBezTo>
                <a:cubicBezTo>
                  <a:pt x="459010" y="0"/>
                  <a:pt x="591399" y="132389"/>
                  <a:pt x="591399" y="295699"/>
                </a:cubicBezTo>
                <a:close/>
              </a:path>
            </a:pathLst>
          </a:custGeom>
          <a:gradFill flip="none" rotWithShape="1">
            <a:gsLst>
              <a:gs pos="0">
                <a:schemeClr val="accent3">
                  <a:alpha val="0"/>
                  <a:lumMod val="0"/>
                  <a:lumOff val="100000"/>
                </a:schemeClr>
              </a:gs>
              <a:gs pos="26000">
                <a:schemeClr val="accent3">
                  <a:alpha val="5000"/>
                  <a:lumMod val="20000"/>
                  <a:lumOff val="80000"/>
                </a:schemeClr>
              </a:gs>
              <a:gs pos="85000">
                <a:schemeClr val="accent3">
                  <a:lumMod val="100000"/>
                </a:schemeClr>
              </a:gs>
            </a:gsLst>
            <a:path path="circle">
              <a:fillToRect l="100000" b="100000"/>
            </a:path>
            <a:tileRect t="-100000" r="-100000"/>
          </a:gradFill>
          <a:ln cap="flat">
            <a:noFill/>
            <a:prstDash val="solid"/>
            <a:miter lim="800000"/>
          </a:ln>
        </p:spPr>
        <p:txBody>
          <a:bodyPr vert="horz" lIns="91440" tIns="45720" rIns="91440" bIns="45720" anchor="ctr"/>
          <a:lstStyle/>
          <a:p>
            <a:pPr marL="0" algn="l"/>
            <a:endParaRPr/>
          </a:p>
        </p:txBody>
      </p:sp>
      <p:grpSp>
        <p:nvGrpSpPr>
          <p:cNvPr id="6" name="Group 6"/>
          <p:cNvGrpSpPr/>
          <p:nvPr/>
        </p:nvGrpSpPr>
        <p:grpSpPr>
          <a:xfrm>
            <a:off x="443072" y="1299420"/>
            <a:ext cx="5039360" cy="3413760"/>
            <a:chOff x="1805" y="3251"/>
            <a:chExt cx="7936" cy="5376"/>
          </a:xfrm>
        </p:grpSpPr>
        <p:sp>
          <p:nvSpPr>
            <p:cNvPr id="7" name="TextBox 7"/>
            <p:cNvSpPr txBox="1"/>
            <p:nvPr/>
          </p:nvSpPr>
          <p:spPr>
            <a:xfrm>
              <a:off x="1805" y="4101"/>
              <a:ext cx="7937" cy="4526"/>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600" b="0" i="0" u="none" baseline="0" dirty="0">
                  <a:solidFill>
                    <a:srgbClr val="FFFFFF"/>
                  </a:solidFill>
                  <a:latin typeface="思源黑体 Normal"/>
                  <a:ea typeface="思源黑体 Normal"/>
                </a:rPr>
                <a:t>The database "</a:t>
              </a:r>
              <a:r>
                <a:rPr lang="en-US" sz="1600" b="0" i="0" u="none" baseline="0" dirty="0" err="1">
                  <a:solidFill>
                    <a:srgbClr val="FFFFFF"/>
                  </a:solidFill>
                  <a:latin typeface="思源黑体 Normal"/>
                  <a:ea typeface="思源黑体 Normal"/>
                </a:rPr>
                <a:t>student_hostel_management</a:t>
              </a:r>
              <a:r>
                <a:rPr lang="en-US" sz="1600" b="0" i="0" u="none" baseline="0" dirty="0">
                  <a:solidFill>
                    <a:srgbClr val="FFFFFF"/>
                  </a:solidFill>
                  <a:latin typeface="思源黑体 Normal"/>
                  <a:ea typeface="思源黑体 Normal"/>
                </a:rPr>
                <a:t>" is created using CREATE DATABASE. DDL commands define table structures (e.g., CREATE TABLE for HOSTEL, STUDENT, PAYMENT), while DML commands populate tables with data. This ensures a robust and scalable database foundation.</a:t>
              </a:r>
              <a:endParaRPr lang="en-US" sz="1100" dirty="0"/>
            </a:p>
          </p:txBody>
        </p:sp>
        <p:sp>
          <p:nvSpPr>
            <p:cNvPr id="8" name="TextBox 8"/>
            <p:cNvSpPr txBox="1"/>
            <p:nvPr/>
          </p:nvSpPr>
          <p:spPr>
            <a:xfrm>
              <a:off x="1805" y="3251"/>
              <a:ext cx="7937" cy="850"/>
            </a:xfrm>
            <a:prstGeom prst="rect">
              <a:avLst/>
            </a:prstGeom>
            <a:noFill/>
          </p:spPr>
          <p:txBody>
            <a:bodyPr vert="horz" wrap="square" lIns="90170" tIns="46990" rIns="90170" bIns="46990" rtlCol="0" anchor="ctr">
              <a:normAutofit/>
            </a:bodyPr>
            <a:lstStyle/>
            <a:p>
              <a:pPr marL="0" indent="0" algn="l" fontAlgn="auto">
                <a:lnSpc>
                  <a:spcPct val="110000"/>
                </a:lnSpc>
                <a:defRPr/>
              </a:pPr>
              <a:r>
                <a:rPr lang="en-US" sz="2000" b="1" i="0" u="none" baseline="0">
                  <a:solidFill>
                    <a:srgbClr val="E5A744"/>
                  </a:solidFill>
                  <a:latin typeface="思源黑体 Normal"/>
                  <a:ea typeface="思源黑体 Normal"/>
                </a:rPr>
                <a:t>DDL and DML Commands</a:t>
              </a:r>
              <a:endParaRPr lang="en-US" sz="1100"/>
            </a:p>
          </p:txBody>
        </p:sp>
      </p:grpSp>
      <p:sp>
        <p:nvSpPr>
          <p:cNvPr id="9" name="Freeform 9"/>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10" name="TextBox 10"/>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Database Implementation with SQL</a:t>
            </a:r>
            <a:endParaRPr lang="en-US" sz="1100" dirty="0"/>
          </a:p>
        </p:txBody>
      </p:sp>
      <p:pic>
        <p:nvPicPr>
          <p:cNvPr id="14" name="Picture 13">
            <a:extLst>
              <a:ext uri="{FF2B5EF4-FFF2-40B4-BE49-F238E27FC236}">
                <a16:creationId xmlns:a16="http://schemas.microsoft.com/office/drawing/2014/main" id="{1B22ADCF-568D-8E63-CF0D-8C6E2C868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3419669"/>
            <a:ext cx="5956300" cy="3200400"/>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a:extLst>
            <a:ext uri="{FF2B5EF4-FFF2-40B4-BE49-F238E27FC236}">
              <a16:creationId xmlns:a16="http://schemas.microsoft.com/office/drawing/2014/main" id="{D4EF792A-98C4-14C4-C4F3-F489D00ADC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1994650-F419-83F3-82A8-FD60D35F1D44}"/>
              </a:ext>
            </a:extLst>
          </p:cNvPr>
          <p:cNvSpPr/>
          <p:nvPr/>
        </p:nvSpPr>
        <p:spPr>
          <a:xfrm>
            <a:off x="10083223" y="694720"/>
            <a:ext cx="1140903" cy="1140903"/>
          </a:xfrm>
          <a:custGeom>
            <a:avLst/>
            <a:gdLst/>
            <a:ahLst/>
            <a:cxnLst/>
            <a:rect l="l" t="t" r="r" b="b"/>
            <a:pathLst>
              <a:path w="1384798" h="1384798">
                <a:moveTo>
                  <a:pt x="1384799" y="692399"/>
                </a:moveTo>
                <a:cubicBezTo>
                  <a:pt x="1384799" y="1074801"/>
                  <a:pt x="1074801" y="1384799"/>
                  <a:pt x="692399" y="1384799"/>
                </a:cubicBezTo>
                <a:cubicBezTo>
                  <a:pt x="309998" y="1384799"/>
                  <a:pt x="0" y="1074801"/>
                  <a:pt x="0" y="692399"/>
                </a:cubicBezTo>
                <a:cubicBezTo>
                  <a:pt x="0" y="309998"/>
                  <a:pt x="309998" y="0"/>
                  <a:pt x="692399" y="0"/>
                </a:cubicBezTo>
                <a:cubicBezTo>
                  <a:pt x="1074801" y="0"/>
                  <a:pt x="1384799" y="309998"/>
                  <a:pt x="1384799" y="692399"/>
                </a:cubicBezTo>
                <a:close/>
              </a:path>
            </a:pathLst>
          </a:custGeom>
          <a:gradFill flip="none" rotWithShape="1">
            <a:gsLst>
              <a:gs pos="0">
                <a:schemeClr val="accent3">
                  <a:alpha val="0"/>
                  <a:lumMod val="0"/>
                  <a:lumOff val="100000"/>
                </a:schemeClr>
              </a:gs>
              <a:gs pos="46000">
                <a:schemeClr val="accent3">
                  <a:alpha val="35000"/>
                  <a:lumMod val="20000"/>
                  <a:lumOff val="80000"/>
                </a:schemeClr>
              </a:gs>
              <a:gs pos="74000">
                <a:schemeClr val="accent3">
                  <a:lumMod val="100000"/>
                </a:schemeClr>
              </a:gs>
            </a:gsLst>
            <a:path path="circle">
              <a:fillToRect t="100000" r="100000"/>
            </a:path>
            <a:tileRect l="-100000" b="-100000"/>
          </a:gradFill>
          <a:ln cap="flat">
            <a:noFill/>
            <a:prstDash val="solid"/>
            <a:miter lim="800000"/>
          </a:ln>
        </p:spPr>
        <p:txBody>
          <a:bodyPr vert="horz" lIns="91440" tIns="45720" rIns="91440" bIns="45720" anchor="ctr"/>
          <a:lstStyle/>
          <a:p>
            <a:pPr marL="0" algn="l"/>
            <a:endParaRPr/>
          </a:p>
        </p:txBody>
      </p:sp>
      <p:sp>
        <p:nvSpPr>
          <p:cNvPr id="9" name="Freeform 9">
            <a:extLst>
              <a:ext uri="{FF2B5EF4-FFF2-40B4-BE49-F238E27FC236}">
                <a16:creationId xmlns:a16="http://schemas.microsoft.com/office/drawing/2014/main" id="{02B7B24C-F1DD-72AD-7C7D-67AFC6F9C660}"/>
              </a:ext>
            </a:extLst>
          </p:cNvPr>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10" name="TextBox 10">
            <a:extLst>
              <a:ext uri="{FF2B5EF4-FFF2-40B4-BE49-F238E27FC236}">
                <a16:creationId xmlns:a16="http://schemas.microsoft.com/office/drawing/2014/main" id="{AC20022E-0EA5-344D-2CED-6C835C955D14}"/>
              </a:ext>
            </a:extLst>
          </p:cNvPr>
          <p:cNvSpPr txBox="1"/>
          <p:nvPr/>
        </p:nvSpPr>
        <p:spPr>
          <a:xfrm>
            <a:off x="838200" y="277352"/>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Database Implementation with SQL</a:t>
            </a:r>
            <a:endParaRPr lang="en-US" sz="1100" dirty="0"/>
          </a:p>
        </p:txBody>
      </p:sp>
      <p:pic>
        <p:nvPicPr>
          <p:cNvPr id="5" name="Picture 4">
            <a:extLst>
              <a:ext uri="{FF2B5EF4-FFF2-40B4-BE49-F238E27FC236}">
                <a16:creationId xmlns:a16="http://schemas.microsoft.com/office/drawing/2014/main" id="{3D5D3263-446A-0AD8-783E-879E294B1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287294"/>
            <a:ext cx="6964914" cy="3752997"/>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12" name="TextBox 11">
            <a:extLst>
              <a:ext uri="{FF2B5EF4-FFF2-40B4-BE49-F238E27FC236}">
                <a16:creationId xmlns:a16="http://schemas.microsoft.com/office/drawing/2014/main" id="{68DEA7D1-5287-2974-FE86-D47D5EE8E2F8}"/>
              </a:ext>
            </a:extLst>
          </p:cNvPr>
          <p:cNvSpPr txBox="1"/>
          <p:nvPr/>
        </p:nvSpPr>
        <p:spPr>
          <a:xfrm>
            <a:off x="3703993" y="5337828"/>
            <a:ext cx="4784014" cy="369332"/>
          </a:xfrm>
          <a:prstGeom prst="rect">
            <a:avLst/>
          </a:prstGeom>
          <a:noFill/>
        </p:spPr>
        <p:txBody>
          <a:bodyPr wrap="square" rtlCol="0">
            <a:spAutoFit/>
          </a:bodyPr>
          <a:lstStyle/>
          <a:p>
            <a:pPr algn="ctr"/>
            <a:r>
              <a:rPr lang="en-US" dirty="0">
                <a:solidFill>
                  <a:schemeClr val="bg1"/>
                </a:solidFill>
              </a:rPr>
              <a:t>Inserting data into STUDENT table</a:t>
            </a:r>
          </a:p>
        </p:txBody>
      </p:sp>
    </p:spTree>
    <p:extLst>
      <p:ext uri="{BB962C8B-B14F-4D97-AF65-F5344CB8AC3E}">
        <p14:creationId xmlns:p14="http://schemas.microsoft.com/office/powerpoint/2010/main" val="1336842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1066800" y="1219200"/>
            <a:ext cx="5731597" cy="296719"/>
          </a:xfrm>
          <a:prstGeom prst="rect">
            <a:avLst/>
          </a:prstGeom>
        </p:spPr>
        <p:txBody>
          <a:bodyPr vert="horz" wrap="square" lIns="90170" tIns="46990" rIns="90170" bIns="46990" rtlCol="0" anchor="t">
            <a:normAutofit fontScale="92500" lnSpcReduction="10000"/>
          </a:bodyPr>
          <a:lstStyle/>
          <a:p>
            <a:pPr marL="0" indent="0" algn="just" fontAlgn="auto">
              <a:lnSpc>
                <a:spcPct val="150000"/>
              </a:lnSpc>
              <a:defRPr/>
            </a:pPr>
            <a:endParaRPr lang="en-US" sz="1100" dirty="0"/>
          </a:p>
        </p:txBody>
      </p:sp>
      <p:sp>
        <p:nvSpPr>
          <p:cNvPr id="8" name="Freeform 8"/>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9" name="TextBox 9"/>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Sample SQL Queries and Outputs</a:t>
            </a:r>
            <a:endParaRPr lang="en-US" sz="1100" dirty="0"/>
          </a:p>
        </p:txBody>
      </p:sp>
      <p:sp>
        <p:nvSpPr>
          <p:cNvPr id="10" name="TextBox 9">
            <a:extLst>
              <a:ext uri="{FF2B5EF4-FFF2-40B4-BE49-F238E27FC236}">
                <a16:creationId xmlns:a16="http://schemas.microsoft.com/office/drawing/2014/main" id="{A9CF41F2-A957-CD6D-D34E-285113F3EDA0}"/>
              </a:ext>
            </a:extLst>
          </p:cNvPr>
          <p:cNvSpPr txBox="1"/>
          <p:nvPr/>
        </p:nvSpPr>
        <p:spPr>
          <a:xfrm>
            <a:off x="2743200" y="1197077"/>
            <a:ext cx="5793658" cy="369332"/>
          </a:xfrm>
          <a:prstGeom prst="rect">
            <a:avLst/>
          </a:prstGeom>
          <a:noFill/>
        </p:spPr>
        <p:txBody>
          <a:bodyPr wrap="square" rtlCol="0">
            <a:spAutoFit/>
          </a:bodyPr>
          <a:lstStyle/>
          <a:p>
            <a:pPr algn="ctr"/>
            <a:r>
              <a:rPr lang="en-US" b="1" dirty="0">
                <a:solidFill>
                  <a:schemeClr val="tx2"/>
                </a:solidFill>
              </a:rPr>
              <a:t>Show students’ name with their room and bed?  </a:t>
            </a:r>
          </a:p>
        </p:txBody>
      </p:sp>
      <p:pic>
        <p:nvPicPr>
          <p:cNvPr id="14" name="Picture 13">
            <a:extLst>
              <a:ext uri="{FF2B5EF4-FFF2-40B4-BE49-F238E27FC236}">
                <a16:creationId xmlns:a16="http://schemas.microsoft.com/office/drawing/2014/main" id="{BCDF35D7-1B1A-C26E-580D-6C5BB5AAE0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1723991"/>
            <a:ext cx="6595783" cy="474991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strVal val="#ppt_h"/>
                                          </p:val>
                                        </p:tav>
                                        <p:tav tm="100000">
                                          <p:val>
                                            <p:strVal val="#ppt_h"/>
                                          </p:val>
                                        </p:tav>
                                      </p:tavLst>
                                    </p:anim>
                                    <p:set>
                                      <p:cBhvr>
                                        <p:cTn id="8" dur="500"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a:extLst>
            <a:ext uri="{FF2B5EF4-FFF2-40B4-BE49-F238E27FC236}">
              <a16:creationId xmlns:a16="http://schemas.microsoft.com/office/drawing/2014/main" id="{5B8A2AAE-217E-BB73-AB95-D721815094B0}"/>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1568CD20-B842-9759-4BB3-A45DF811E59C}"/>
              </a:ext>
            </a:extLst>
          </p:cNvPr>
          <p:cNvSpPr txBox="1"/>
          <p:nvPr/>
        </p:nvSpPr>
        <p:spPr>
          <a:xfrm>
            <a:off x="-1066800" y="1219200"/>
            <a:ext cx="5731597" cy="296719"/>
          </a:xfrm>
          <a:prstGeom prst="rect">
            <a:avLst/>
          </a:prstGeom>
        </p:spPr>
        <p:txBody>
          <a:bodyPr vert="horz" wrap="square" lIns="90170" tIns="46990" rIns="90170" bIns="46990" rtlCol="0" anchor="t">
            <a:normAutofit fontScale="92500" lnSpcReduction="10000"/>
          </a:bodyPr>
          <a:lstStyle/>
          <a:p>
            <a:pPr marL="0" indent="0" algn="just" fontAlgn="auto">
              <a:lnSpc>
                <a:spcPct val="150000"/>
              </a:lnSpc>
              <a:defRPr/>
            </a:pPr>
            <a:endParaRPr lang="en-US" sz="1100" dirty="0"/>
          </a:p>
        </p:txBody>
      </p:sp>
      <p:sp>
        <p:nvSpPr>
          <p:cNvPr id="8" name="Freeform 8">
            <a:extLst>
              <a:ext uri="{FF2B5EF4-FFF2-40B4-BE49-F238E27FC236}">
                <a16:creationId xmlns:a16="http://schemas.microsoft.com/office/drawing/2014/main" id="{546B19B9-A150-5501-D48C-B8AD4F97CE68}"/>
              </a:ext>
            </a:extLst>
          </p:cNvPr>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9" name="TextBox 9">
            <a:extLst>
              <a:ext uri="{FF2B5EF4-FFF2-40B4-BE49-F238E27FC236}">
                <a16:creationId xmlns:a16="http://schemas.microsoft.com/office/drawing/2014/main" id="{48AFF809-B03C-DE80-F8F2-5B0CDF4EA2B2}"/>
              </a:ext>
            </a:extLst>
          </p:cNvPr>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Sample SQL Queries and Outputs</a:t>
            </a:r>
            <a:endParaRPr lang="en-US" sz="1100" dirty="0"/>
          </a:p>
        </p:txBody>
      </p:sp>
      <p:sp>
        <p:nvSpPr>
          <p:cNvPr id="10" name="TextBox 9">
            <a:extLst>
              <a:ext uri="{FF2B5EF4-FFF2-40B4-BE49-F238E27FC236}">
                <a16:creationId xmlns:a16="http://schemas.microsoft.com/office/drawing/2014/main" id="{A514EB8F-E4C3-AD28-E10C-3F40BB859CB6}"/>
              </a:ext>
            </a:extLst>
          </p:cNvPr>
          <p:cNvSpPr txBox="1"/>
          <p:nvPr/>
        </p:nvSpPr>
        <p:spPr>
          <a:xfrm>
            <a:off x="2743200" y="1197077"/>
            <a:ext cx="5793658" cy="369332"/>
          </a:xfrm>
          <a:prstGeom prst="rect">
            <a:avLst/>
          </a:prstGeom>
          <a:noFill/>
        </p:spPr>
        <p:txBody>
          <a:bodyPr wrap="square" rtlCol="0">
            <a:spAutoFit/>
          </a:bodyPr>
          <a:lstStyle/>
          <a:p>
            <a:pPr algn="ctr"/>
            <a:r>
              <a:rPr lang="en-US" b="1" dirty="0">
                <a:solidFill>
                  <a:schemeClr val="tx2"/>
                </a:solidFill>
              </a:rPr>
              <a:t>Find the students who haven’t made any payments? </a:t>
            </a:r>
          </a:p>
        </p:txBody>
      </p:sp>
      <p:pic>
        <p:nvPicPr>
          <p:cNvPr id="12" name="Picture 11">
            <a:extLst>
              <a:ext uri="{FF2B5EF4-FFF2-40B4-BE49-F238E27FC236}">
                <a16:creationId xmlns:a16="http://schemas.microsoft.com/office/drawing/2014/main" id="{716DA659-8A13-40AA-6B1D-0FB474C689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6381" y="1947820"/>
            <a:ext cx="6609337" cy="455636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12393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strVal val="#ppt_h"/>
                                          </p:val>
                                        </p:tav>
                                        <p:tav tm="100000">
                                          <p:val>
                                            <p:strVal val="#ppt_h"/>
                                          </p:val>
                                        </p:tav>
                                      </p:tavLst>
                                    </p:anim>
                                    <p:set>
                                      <p:cBhvr>
                                        <p:cTn id="8" dur="500"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a:extLst>
            <a:ext uri="{FF2B5EF4-FFF2-40B4-BE49-F238E27FC236}">
              <a16:creationId xmlns:a16="http://schemas.microsoft.com/office/drawing/2014/main" id="{42BB4621-4BA7-68FF-5FC1-3D7F15AA36E7}"/>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1DC8EC26-443F-1623-CE03-65D456940EE3}"/>
              </a:ext>
            </a:extLst>
          </p:cNvPr>
          <p:cNvSpPr txBox="1"/>
          <p:nvPr/>
        </p:nvSpPr>
        <p:spPr>
          <a:xfrm>
            <a:off x="-1066800" y="1219200"/>
            <a:ext cx="5731597" cy="296719"/>
          </a:xfrm>
          <a:prstGeom prst="rect">
            <a:avLst/>
          </a:prstGeom>
        </p:spPr>
        <p:txBody>
          <a:bodyPr vert="horz" wrap="square" lIns="90170" tIns="46990" rIns="90170" bIns="46990" rtlCol="0" anchor="t">
            <a:normAutofit fontScale="92500" lnSpcReduction="10000"/>
          </a:bodyPr>
          <a:lstStyle/>
          <a:p>
            <a:pPr marL="0" indent="0" algn="just" fontAlgn="auto">
              <a:lnSpc>
                <a:spcPct val="150000"/>
              </a:lnSpc>
              <a:defRPr/>
            </a:pPr>
            <a:endParaRPr lang="en-US" sz="1100" dirty="0"/>
          </a:p>
        </p:txBody>
      </p:sp>
      <p:sp>
        <p:nvSpPr>
          <p:cNvPr id="8" name="Freeform 8">
            <a:extLst>
              <a:ext uri="{FF2B5EF4-FFF2-40B4-BE49-F238E27FC236}">
                <a16:creationId xmlns:a16="http://schemas.microsoft.com/office/drawing/2014/main" id="{EE0D3807-649F-B825-0EF3-64D64F43C629}"/>
              </a:ext>
            </a:extLst>
          </p:cNvPr>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9" name="TextBox 9">
            <a:extLst>
              <a:ext uri="{FF2B5EF4-FFF2-40B4-BE49-F238E27FC236}">
                <a16:creationId xmlns:a16="http://schemas.microsoft.com/office/drawing/2014/main" id="{4AB77CBE-4A10-2DB0-699B-08B474367F2A}"/>
              </a:ext>
            </a:extLst>
          </p:cNvPr>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Sample SQL Queries and Outputs</a:t>
            </a:r>
            <a:endParaRPr lang="en-US" sz="1100" dirty="0"/>
          </a:p>
        </p:txBody>
      </p:sp>
      <p:sp>
        <p:nvSpPr>
          <p:cNvPr id="10" name="TextBox 9">
            <a:extLst>
              <a:ext uri="{FF2B5EF4-FFF2-40B4-BE49-F238E27FC236}">
                <a16:creationId xmlns:a16="http://schemas.microsoft.com/office/drawing/2014/main" id="{6587A69D-21EE-2A8D-2F19-EF446C959DCF}"/>
              </a:ext>
            </a:extLst>
          </p:cNvPr>
          <p:cNvSpPr txBox="1"/>
          <p:nvPr/>
        </p:nvSpPr>
        <p:spPr>
          <a:xfrm>
            <a:off x="2743200" y="1197077"/>
            <a:ext cx="5793658" cy="369332"/>
          </a:xfrm>
          <a:prstGeom prst="rect">
            <a:avLst/>
          </a:prstGeom>
          <a:noFill/>
        </p:spPr>
        <p:txBody>
          <a:bodyPr wrap="square" rtlCol="0">
            <a:spAutoFit/>
          </a:bodyPr>
          <a:lstStyle/>
          <a:p>
            <a:pPr algn="ctr"/>
            <a:r>
              <a:rPr lang="en-US" b="1" dirty="0">
                <a:solidFill>
                  <a:schemeClr val="tx2"/>
                </a:solidFill>
              </a:rPr>
              <a:t>Find the hostel with highest revenue? </a:t>
            </a:r>
          </a:p>
        </p:txBody>
      </p:sp>
      <p:pic>
        <p:nvPicPr>
          <p:cNvPr id="3" name="Picture 2">
            <a:extLst>
              <a:ext uri="{FF2B5EF4-FFF2-40B4-BE49-F238E27FC236}">
                <a16:creationId xmlns:a16="http://schemas.microsoft.com/office/drawing/2014/main" id="{A3A998B6-7717-CEBC-5A94-636710EF86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828800"/>
            <a:ext cx="7267937" cy="42672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72949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strVal val="#ppt_h"/>
                                          </p:val>
                                        </p:tav>
                                        <p:tav tm="100000">
                                          <p:val>
                                            <p:strVal val="#ppt_h"/>
                                          </p:val>
                                        </p:tav>
                                      </p:tavLst>
                                    </p:anim>
                                    <p:set>
                                      <p:cBhvr>
                                        <p:cTn id="8" dur="500"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a:extLst>
            <a:ext uri="{FF2B5EF4-FFF2-40B4-BE49-F238E27FC236}">
              <a16:creationId xmlns:a16="http://schemas.microsoft.com/office/drawing/2014/main" id="{F5EF8DB8-9DF5-14BB-D2AA-1C829F835DAD}"/>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C03D9115-8D28-E8AC-9746-EE25D64E2D27}"/>
              </a:ext>
            </a:extLst>
          </p:cNvPr>
          <p:cNvSpPr txBox="1"/>
          <p:nvPr/>
        </p:nvSpPr>
        <p:spPr>
          <a:xfrm>
            <a:off x="-1066800" y="1219200"/>
            <a:ext cx="5731597" cy="296719"/>
          </a:xfrm>
          <a:prstGeom prst="rect">
            <a:avLst/>
          </a:prstGeom>
        </p:spPr>
        <p:txBody>
          <a:bodyPr vert="horz" wrap="square" lIns="90170" tIns="46990" rIns="90170" bIns="46990" rtlCol="0" anchor="t">
            <a:normAutofit fontScale="92500" lnSpcReduction="10000"/>
          </a:bodyPr>
          <a:lstStyle/>
          <a:p>
            <a:pPr marL="0" indent="0" algn="just" fontAlgn="auto">
              <a:lnSpc>
                <a:spcPct val="150000"/>
              </a:lnSpc>
              <a:defRPr/>
            </a:pPr>
            <a:endParaRPr lang="en-US" sz="1100" dirty="0"/>
          </a:p>
        </p:txBody>
      </p:sp>
      <p:sp>
        <p:nvSpPr>
          <p:cNvPr id="8" name="Freeform 8">
            <a:extLst>
              <a:ext uri="{FF2B5EF4-FFF2-40B4-BE49-F238E27FC236}">
                <a16:creationId xmlns:a16="http://schemas.microsoft.com/office/drawing/2014/main" id="{900A3AA8-97D1-78BF-1A2E-98C871B1A17C}"/>
              </a:ext>
            </a:extLst>
          </p:cNvPr>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9" name="TextBox 9">
            <a:extLst>
              <a:ext uri="{FF2B5EF4-FFF2-40B4-BE49-F238E27FC236}">
                <a16:creationId xmlns:a16="http://schemas.microsoft.com/office/drawing/2014/main" id="{E10340CA-A2FD-5923-48D9-3BC8977605E8}"/>
              </a:ext>
            </a:extLst>
          </p:cNvPr>
          <p:cNvSpPr txBox="1"/>
          <p:nvPr/>
        </p:nvSpPr>
        <p:spPr>
          <a:xfrm>
            <a:off x="838200" y="31813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Sample SQL Queries and Outputs</a:t>
            </a:r>
            <a:endParaRPr lang="en-US" sz="1100" dirty="0"/>
          </a:p>
        </p:txBody>
      </p:sp>
      <p:sp>
        <p:nvSpPr>
          <p:cNvPr id="10" name="TextBox 9">
            <a:extLst>
              <a:ext uri="{FF2B5EF4-FFF2-40B4-BE49-F238E27FC236}">
                <a16:creationId xmlns:a16="http://schemas.microsoft.com/office/drawing/2014/main" id="{7353F71A-A50D-73B3-A266-2019C058174F}"/>
              </a:ext>
            </a:extLst>
          </p:cNvPr>
          <p:cNvSpPr txBox="1"/>
          <p:nvPr/>
        </p:nvSpPr>
        <p:spPr>
          <a:xfrm>
            <a:off x="1066800" y="1044393"/>
            <a:ext cx="10058400" cy="646331"/>
          </a:xfrm>
          <a:prstGeom prst="rect">
            <a:avLst/>
          </a:prstGeom>
          <a:noFill/>
        </p:spPr>
        <p:txBody>
          <a:bodyPr wrap="square" rtlCol="0">
            <a:spAutoFit/>
          </a:bodyPr>
          <a:lstStyle/>
          <a:p>
            <a:r>
              <a:rPr lang="en-US" b="1" dirty="0">
                <a:solidFill>
                  <a:schemeClr val="tx2"/>
                </a:solidFill>
              </a:rPr>
              <a:t>One student has done his hostel day </a:t>
            </a:r>
            <a:r>
              <a:rPr lang="en-US" b="1" dirty="0" err="1">
                <a:solidFill>
                  <a:schemeClr val="tx2"/>
                </a:solidFill>
              </a:rPr>
              <a:t>student_id</a:t>
            </a:r>
            <a:r>
              <a:rPr lang="en-US" b="1" dirty="0">
                <a:solidFill>
                  <a:schemeClr val="tx2"/>
                </a:solidFill>
              </a:rPr>
              <a:t>=4. Update the database allocation as inactive and set the </a:t>
            </a:r>
            <a:r>
              <a:rPr lang="en-US" b="1" dirty="0" err="1">
                <a:solidFill>
                  <a:schemeClr val="tx2"/>
                </a:solidFill>
              </a:rPr>
              <a:t>end_date</a:t>
            </a:r>
            <a:r>
              <a:rPr lang="en-US" b="1" dirty="0">
                <a:solidFill>
                  <a:schemeClr val="tx2"/>
                </a:solidFill>
              </a:rPr>
              <a:t> to today’s date. </a:t>
            </a:r>
          </a:p>
        </p:txBody>
      </p:sp>
      <p:pic>
        <p:nvPicPr>
          <p:cNvPr id="7" name="Picture 6">
            <a:extLst>
              <a:ext uri="{FF2B5EF4-FFF2-40B4-BE49-F238E27FC236}">
                <a16:creationId xmlns:a16="http://schemas.microsoft.com/office/drawing/2014/main" id="{9B839919-8EAC-43AA-FC6D-2DD44EB08D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1981200"/>
            <a:ext cx="7848818" cy="441198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04967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strVal val="#ppt_h"/>
                                          </p:val>
                                        </p:tav>
                                        <p:tav tm="100000">
                                          <p:val>
                                            <p:strVal val="#ppt_h"/>
                                          </p:val>
                                        </p:tav>
                                      </p:tavLst>
                                    </p:anim>
                                    <p:set>
                                      <p:cBhvr>
                                        <p:cTn id="8" dur="500"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a:extLst>
            <a:ext uri="{FF2B5EF4-FFF2-40B4-BE49-F238E27FC236}">
              <a16:creationId xmlns:a16="http://schemas.microsoft.com/office/drawing/2014/main" id="{01CB8D39-615F-6930-4B23-D75F16C2C5CB}"/>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BF02ED3-F3E5-E689-1334-76AF7D3E1437}"/>
              </a:ext>
            </a:extLst>
          </p:cNvPr>
          <p:cNvSpPr txBox="1"/>
          <p:nvPr/>
        </p:nvSpPr>
        <p:spPr>
          <a:xfrm>
            <a:off x="-1066800" y="1219200"/>
            <a:ext cx="5731597" cy="296719"/>
          </a:xfrm>
          <a:prstGeom prst="rect">
            <a:avLst/>
          </a:prstGeom>
        </p:spPr>
        <p:txBody>
          <a:bodyPr vert="horz" wrap="square" lIns="90170" tIns="46990" rIns="90170" bIns="46990" rtlCol="0" anchor="t">
            <a:normAutofit fontScale="92500" lnSpcReduction="10000"/>
          </a:bodyPr>
          <a:lstStyle/>
          <a:p>
            <a:pPr marL="0" indent="0" algn="just" fontAlgn="auto">
              <a:lnSpc>
                <a:spcPct val="150000"/>
              </a:lnSpc>
              <a:defRPr/>
            </a:pPr>
            <a:endParaRPr lang="en-US" sz="1100" dirty="0"/>
          </a:p>
        </p:txBody>
      </p:sp>
      <p:sp>
        <p:nvSpPr>
          <p:cNvPr id="8" name="Freeform 8">
            <a:extLst>
              <a:ext uri="{FF2B5EF4-FFF2-40B4-BE49-F238E27FC236}">
                <a16:creationId xmlns:a16="http://schemas.microsoft.com/office/drawing/2014/main" id="{CA13CC58-091F-E064-FC49-62477BA4229D}"/>
              </a:ext>
            </a:extLst>
          </p:cNvPr>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9" name="TextBox 9">
            <a:extLst>
              <a:ext uri="{FF2B5EF4-FFF2-40B4-BE49-F238E27FC236}">
                <a16:creationId xmlns:a16="http://schemas.microsoft.com/office/drawing/2014/main" id="{37A04F8B-09B2-FA23-DCEF-6751A2E17EE7}"/>
              </a:ext>
            </a:extLst>
          </p:cNvPr>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Sample SQL Queries and Outputs</a:t>
            </a:r>
            <a:endParaRPr lang="en-US" sz="1100" dirty="0"/>
          </a:p>
        </p:txBody>
      </p:sp>
      <p:sp>
        <p:nvSpPr>
          <p:cNvPr id="10" name="TextBox 9">
            <a:extLst>
              <a:ext uri="{FF2B5EF4-FFF2-40B4-BE49-F238E27FC236}">
                <a16:creationId xmlns:a16="http://schemas.microsoft.com/office/drawing/2014/main" id="{3EA4B736-5722-56CF-3295-D35F966CA4A1}"/>
              </a:ext>
            </a:extLst>
          </p:cNvPr>
          <p:cNvSpPr txBox="1"/>
          <p:nvPr/>
        </p:nvSpPr>
        <p:spPr>
          <a:xfrm>
            <a:off x="1066800" y="1219200"/>
            <a:ext cx="9372600" cy="369332"/>
          </a:xfrm>
          <a:prstGeom prst="rect">
            <a:avLst/>
          </a:prstGeom>
          <a:noFill/>
        </p:spPr>
        <p:txBody>
          <a:bodyPr wrap="square" rtlCol="0">
            <a:spAutoFit/>
          </a:bodyPr>
          <a:lstStyle/>
          <a:p>
            <a:pPr algn="ctr"/>
            <a:r>
              <a:rPr lang="en-US" b="1" dirty="0">
                <a:solidFill>
                  <a:schemeClr val="tx2"/>
                </a:solidFill>
              </a:rPr>
              <a:t>Delete all complaint history from the database that were resolved and are older than 1 month</a:t>
            </a:r>
            <a:r>
              <a:rPr lang="en-US" dirty="0"/>
              <a:t>.</a:t>
            </a:r>
            <a:r>
              <a:rPr lang="en-US" b="1" dirty="0">
                <a:solidFill>
                  <a:schemeClr val="tx2"/>
                </a:solidFill>
              </a:rPr>
              <a:t> </a:t>
            </a:r>
          </a:p>
        </p:txBody>
      </p:sp>
      <p:pic>
        <p:nvPicPr>
          <p:cNvPr id="4" name="Picture 3">
            <a:extLst>
              <a:ext uri="{FF2B5EF4-FFF2-40B4-BE49-F238E27FC236}">
                <a16:creationId xmlns:a16="http://schemas.microsoft.com/office/drawing/2014/main" id="{AA099B65-DB28-AF44-96DB-921D3EB9C2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1905000"/>
            <a:ext cx="7587869" cy="434733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21995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strVal val="#ppt_h"/>
                                          </p:val>
                                        </p:tav>
                                        <p:tav tm="100000">
                                          <p:val>
                                            <p:strVal val="#ppt_h"/>
                                          </p:val>
                                        </p:tav>
                                      </p:tavLst>
                                    </p:anim>
                                    <p:set>
                                      <p:cBhvr>
                                        <p:cTn id="8" dur="500"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9392245" y="3858579"/>
            <a:ext cx="2497775" cy="2497775"/>
          </a:xfrm>
          <a:prstGeom prst="ellipse">
            <a:avLst/>
          </a:prstGeom>
          <a:solidFill>
            <a:schemeClr val="accent1">
              <a:alpha val="40000"/>
            </a:schemeClr>
          </a:solidFill>
          <a:ln>
            <a:noFill/>
          </a:ln>
        </p:spPr>
        <p:txBody>
          <a:bodyPr vert="horz" lIns="91440" tIns="45720" rIns="91440" bIns="45720" anchor="ctr"/>
          <a:lstStyle/>
          <a:p>
            <a:pPr marL="0" algn="ctr"/>
            <a:endParaRPr/>
          </a:p>
        </p:txBody>
      </p:sp>
      <p:sp>
        <p:nvSpPr>
          <p:cNvPr id="3" name="AutoShape 3"/>
          <p:cNvSpPr/>
          <p:nvPr/>
        </p:nvSpPr>
        <p:spPr>
          <a:xfrm>
            <a:off x="6787829" y="1054108"/>
            <a:ext cx="4794241" cy="4794241"/>
          </a:xfrm>
          <a:prstGeom prst="ellipse">
            <a:avLst/>
          </a:prstGeom>
          <a:solidFill>
            <a:srgbClr val="E5A744"/>
          </a:solidFill>
          <a:ln>
            <a:noFill/>
          </a:ln>
        </p:spPr>
        <p:txBody>
          <a:bodyPr vert="horz" lIns="91440" tIns="45720" rIns="91440" bIns="45720" anchor="ctr"/>
          <a:lstStyle/>
          <a:p>
            <a:pPr marL="0" algn="ctr"/>
            <a:endParaRPr/>
          </a:p>
        </p:txBody>
      </p:sp>
      <p:grpSp>
        <p:nvGrpSpPr>
          <p:cNvPr id="5" name="Group 5"/>
          <p:cNvGrpSpPr/>
          <p:nvPr/>
        </p:nvGrpSpPr>
        <p:grpSpPr>
          <a:xfrm>
            <a:off x="825500" y="1906273"/>
            <a:ext cx="5425440" cy="3413760"/>
            <a:chOff x="1475" y="3596"/>
            <a:chExt cx="8544" cy="5376"/>
          </a:xfrm>
        </p:grpSpPr>
        <p:sp>
          <p:nvSpPr>
            <p:cNvPr id="6" name="TextBox 6"/>
            <p:cNvSpPr txBox="1"/>
            <p:nvPr/>
          </p:nvSpPr>
          <p:spPr>
            <a:xfrm>
              <a:off x="1475" y="4446"/>
              <a:ext cx="8544" cy="4526"/>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600" b="0" i="0" u="none" baseline="0" dirty="0">
                  <a:solidFill>
                    <a:srgbClr val="FFFFFF"/>
                  </a:solidFill>
                  <a:latin typeface="思源黑体 Normal"/>
                  <a:ea typeface="思源黑体 Normal"/>
                </a:rPr>
                <a:t>Actors include Student, Hostel Admin, Staff Team, and Finance Department. Functions like registration, allocation, payment, complaint, and maintenance add value by ensuring efficient, dynamic hostel management with minimal redundancy and high data integrity.</a:t>
              </a:r>
              <a:endParaRPr lang="en-US" sz="1100" dirty="0"/>
            </a:p>
          </p:txBody>
        </p:sp>
        <p:sp>
          <p:nvSpPr>
            <p:cNvPr id="7" name="TextBox 7"/>
            <p:cNvSpPr txBox="1"/>
            <p:nvPr/>
          </p:nvSpPr>
          <p:spPr>
            <a:xfrm>
              <a:off x="1475" y="3596"/>
              <a:ext cx="8544" cy="850"/>
            </a:xfrm>
            <a:prstGeom prst="rect">
              <a:avLst/>
            </a:prstGeom>
            <a:noFill/>
          </p:spPr>
          <p:txBody>
            <a:bodyPr vert="horz" wrap="square" lIns="90170" tIns="46990" rIns="90170" bIns="46990" rtlCol="0" anchor="ctr">
              <a:normAutofit/>
            </a:bodyPr>
            <a:lstStyle/>
            <a:p>
              <a:pPr marL="0" indent="0" algn="l" fontAlgn="auto">
                <a:lnSpc>
                  <a:spcPct val="110000"/>
                </a:lnSpc>
                <a:defRPr/>
              </a:pPr>
              <a:r>
                <a:rPr lang="en-US" sz="2000" b="1" i="0" u="none" baseline="0" dirty="0">
                  <a:solidFill>
                    <a:srgbClr val="E5A744"/>
                  </a:solidFill>
                  <a:latin typeface="思源黑体 Normal"/>
                  <a:ea typeface="思源黑体 Normal"/>
                </a:rPr>
                <a:t>Actors and Value-Adding Functions</a:t>
              </a:r>
              <a:endParaRPr lang="en-US" sz="1100" dirty="0"/>
            </a:p>
          </p:txBody>
        </p:sp>
      </p:grpSp>
      <p:sp>
        <p:nvSpPr>
          <p:cNvPr id="8" name="Freeform 8"/>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9" name="TextBox 9"/>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System Actors and Functions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96595" y="2295525"/>
            <a:ext cx="5102225" cy="3612515"/>
          </a:xfrm>
          <a:prstGeom prst="roundRect">
            <a:avLst>
              <a:gd name="adj" fmla="val 0"/>
            </a:avLst>
          </a:prstGeom>
          <a:solidFill>
            <a:srgbClr val="FAEEE1"/>
          </a:solidFill>
          <a:ln>
            <a:noFill/>
          </a:ln>
          <a:effectLst/>
        </p:spPr>
        <p:txBody>
          <a:bodyPr vert="horz" wrap="square" lIns="90170" tIns="46990" rIns="90170" bIns="46990" anchor="ctr">
            <a:normAutofit/>
          </a:bodyPr>
          <a:lstStyle/>
          <a:p>
            <a:pPr marL="0" algn="l"/>
            <a:endParaRPr/>
          </a:p>
        </p:txBody>
      </p:sp>
      <p:sp>
        <p:nvSpPr>
          <p:cNvPr id="3" name="AutoShape 3"/>
          <p:cNvSpPr/>
          <p:nvPr/>
        </p:nvSpPr>
        <p:spPr>
          <a:xfrm>
            <a:off x="961390" y="1760855"/>
            <a:ext cx="793750" cy="777875"/>
          </a:xfrm>
          <a:prstGeom prst="roundRect">
            <a:avLst>
              <a:gd name="adj" fmla="val 0"/>
            </a:avLst>
          </a:prstGeom>
          <a:solidFill>
            <a:srgbClr val="E5A744"/>
          </a:solidFill>
          <a:ln>
            <a:noFill/>
          </a:ln>
          <a:effectLst/>
        </p:spPr>
        <p:txBody>
          <a:bodyPr vert="horz" wrap="square" lIns="90170" tIns="46990" rIns="90170" bIns="46990" anchor="ctr">
            <a:normAutofit/>
          </a:bodyPr>
          <a:lstStyle/>
          <a:p>
            <a:pPr marL="0" algn="ctr">
              <a:spcBef>
                <a:spcPct val="0"/>
              </a:spcBef>
              <a:spcAft>
                <a:spcPct val="0"/>
              </a:spcAft>
            </a:pPr>
            <a:r>
              <a:rPr lang="en-US" sz="2400" b="1" i="0" u="none" baseline="0" dirty="0">
                <a:solidFill>
                  <a:schemeClr val="lt1"/>
                </a:solidFill>
                <a:latin typeface="思源黑体 Normal"/>
                <a:ea typeface="思源黑体 Normal"/>
              </a:rPr>
              <a:t>01</a:t>
            </a:r>
          </a:p>
        </p:txBody>
      </p:sp>
      <p:cxnSp>
        <p:nvCxnSpPr>
          <p:cNvPr id="4" name="Connector 4"/>
          <p:cNvCxnSpPr/>
          <p:nvPr/>
        </p:nvCxnSpPr>
        <p:spPr>
          <a:xfrm flipV="1">
            <a:off x="916305" y="3330575"/>
            <a:ext cx="4662805" cy="0"/>
          </a:xfrm>
          <a:prstGeom prst="line">
            <a:avLst/>
          </a:prstGeom>
          <a:ln w="22225">
            <a:solidFill>
              <a:srgbClr val="E5A744">
                <a:alpha val="50000"/>
              </a:srgbClr>
            </a:solidFill>
          </a:ln>
        </p:spPr>
      </p:cxnSp>
      <p:sp>
        <p:nvSpPr>
          <p:cNvPr id="5" name="AutoShape 5"/>
          <p:cNvSpPr/>
          <p:nvPr/>
        </p:nvSpPr>
        <p:spPr>
          <a:xfrm>
            <a:off x="6393815" y="2295525"/>
            <a:ext cx="5102225" cy="3612515"/>
          </a:xfrm>
          <a:prstGeom prst="roundRect">
            <a:avLst>
              <a:gd name="adj" fmla="val 0"/>
            </a:avLst>
          </a:prstGeom>
          <a:solidFill>
            <a:srgbClr val="FAEEE1"/>
          </a:solidFill>
          <a:ln>
            <a:noFill/>
          </a:ln>
          <a:effectLst/>
        </p:spPr>
        <p:txBody>
          <a:bodyPr vert="horz" wrap="square" lIns="90170" tIns="46990" rIns="90170" bIns="46990" anchor="ctr">
            <a:normAutofit/>
          </a:bodyPr>
          <a:lstStyle/>
          <a:p>
            <a:pPr marL="0" algn="l"/>
            <a:endParaRPr/>
          </a:p>
        </p:txBody>
      </p:sp>
      <p:sp>
        <p:nvSpPr>
          <p:cNvPr id="6" name="AutoShape 6"/>
          <p:cNvSpPr/>
          <p:nvPr/>
        </p:nvSpPr>
        <p:spPr>
          <a:xfrm>
            <a:off x="6657975" y="1760855"/>
            <a:ext cx="793750" cy="777875"/>
          </a:xfrm>
          <a:prstGeom prst="roundRect">
            <a:avLst>
              <a:gd name="adj" fmla="val 0"/>
            </a:avLst>
          </a:prstGeom>
          <a:solidFill>
            <a:srgbClr val="E5A744"/>
          </a:solidFill>
          <a:ln>
            <a:noFill/>
          </a:ln>
          <a:effectLst/>
        </p:spPr>
        <p:txBody>
          <a:bodyPr vert="horz" wrap="square" lIns="90170" tIns="46990" rIns="90170" bIns="46990" anchor="ctr">
            <a:normAutofit/>
          </a:bodyPr>
          <a:lstStyle/>
          <a:p>
            <a:pPr marL="0" algn="ctr">
              <a:spcBef>
                <a:spcPct val="0"/>
              </a:spcBef>
              <a:spcAft>
                <a:spcPct val="0"/>
              </a:spcAft>
            </a:pPr>
            <a:r>
              <a:rPr lang="en-US" sz="2400" b="1" i="0" u="none" baseline="0">
                <a:solidFill>
                  <a:schemeClr val="lt1"/>
                </a:solidFill>
                <a:latin typeface="思源黑体 Normal"/>
                <a:ea typeface="思源黑体 Normal"/>
              </a:rPr>
              <a:t>02</a:t>
            </a:r>
          </a:p>
        </p:txBody>
      </p:sp>
      <p:cxnSp>
        <p:nvCxnSpPr>
          <p:cNvPr id="7" name="Connector 7"/>
          <p:cNvCxnSpPr/>
          <p:nvPr/>
        </p:nvCxnSpPr>
        <p:spPr>
          <a:xfrm flipV="1">
            <a:off x="6614160" y="3336290"/>
            <a:ext cx="4662170" cy="0"/>
          </a:xfrm>
          <a:prstGeom prst="line">
            <a:avLst/>
          </a:prstGeom>
          <a:ln w="22225">
            <a:solidFill>
              <a:srgbClr val="E5A744">
                <a:alpha val="50000"/>
              </a:srgbClr>
            </a:solidFill>
          </a:ln>
        </p:spPr>
      </p:cxnSp>
      <p:sp>
        <p:nvSpPr>
          <p:cNvPr id="8" name="TextBox 8"/>
          <p:cNvSpPr txBox="1"/>
          <p:nvPr/>
        </p:nvSpPr>
        <p:spPr>
          <a:xfrm>
            <a:off x="781050" y="319405"/>
            <a:ext cx="10800000" cy="720090"/>
          </a:xfrm>
          <a:prstGeom prst="rect">
            <a:avLst/>
          </a:prstGeom>
        </p:spPr>
        <p:txBody>
          <a:bodyPr vert="horz" wrap="square" lIns="90170" tIns="46990" rIns="90170" bIns="46990" rtlCol="0" anchor="ctr">
            <a:normAutofit/>
          </a:bodyPr>
          <a:lstStyle/>
          <a:p>
            <a:pPr marL="0" indent="0" algn="l" fontAlgn="auto">
              <a:lnSpc>
                <a:spcPct val="100000"/>
              </a:lnSpc>
              <a:defRPr/>
            </a:pPr>
            <a:r>
              <a:rPr lang="en-US" sz="3200" b="1" i="0" u="none" baseline="0" dirty="0">
                <a:ln/>
                <a:solidFill>
                  <a:srgbClr val="E5A744"/>
                </a:solidFill>
                <a:latin typeface="思源黑体 Normal"/>
                <a:ea typeface="思源黑体 Normal"/>
              </a:rPr>
              <a:t>Key Business Processes</a:t>
            </a:r>
            <a:endParaRPr lang="en-US" sz="1100" dirty="0"/>
          </a:p>
        </p:txBody>
      </p:sp>
      <p:sp>
        <p:nvSpPr>
          <p:cNvPr id="9" name="Freeform 9"/>
          <p:cNvSpPr/>
          <p:nvPr/>
        </p:nvSpPr>
        <p:spPr>
          <a:xfrm>
            <a:off x="0" y="320040"/>
            <a:ext cx="685165" cy="718820"/>
          </a:xfrm>
          <a:custGeom>
            <a:avLst/>
            <a:gdLst/>
            <a:ahLst/>
            <a:cxnLst/>
            <a:rect l="l" t="t" r="r" b="b"/>
            <a:pathLst>
              <a:path w="461590" h="406400">
                <a:moveTo>
                  <a:pt x="258390" y="0"/>
                </a:moveTo>
                <a:lnTo>
                  <a:pt x="0" y="0"/>
                </a:lnTo>
                <a:lnTo>
                  <a:pt x="0" y="406400"/>
                </a:lnTo>
                <a:lnTo>
                  <a:pt x="258390" y="406400"/>
                </a:lnTo>
                <a:lnTo>
                  <a:pt x="461590" y="203200"/>
                </a:lnTo>
                <a:lnTo>
                  <a:pt x="258390" y="0"/>
                </a:lnTo>
                <a:close/>
              </a:path>
            </a:pathLst>
          </a:custGeom>
          <a:solidFill>
            <a:srgbClr val="E5A744"/>
          </a:solidFill>
        </p:spPr>
        <p:txBody>
          <a:bodyPr/>
          <a:lstStyle/>
          <a:p>
            <a:endParaRPr lang="en-US"/>
          </a:p>
        </p:txBody>
      </p:sp>
      <p:sp>
        <p:nvSpPr>
          <p:cNvPr id="10" name="TextBox 10"/>
          <p:cNvSpPr txBox="1"/>
          <p:nvPr/>
        </p:nvSpPr>
        <p:spPr>
          <a:xfrm>
            <a:off x="961390" y="2796540"/>
            <a:ext cx="4535805" cy="540000"/>
          </a:xfrm>
          <a:prstGeom prst="rect">
            <a:avLst/>
          </a:prstGeom>
        </p:spPr>
        <p:txBody>
          <a:bodyPr vert="horz" wrap="square" lIns="90170" tIns="46990" rIns="90170" bIns="46990" rtlCol="0" anchor="ctr">
            <a:normAutofit/>
          </a:bodyPr>
          <a:lstStyle/>
          <a:p>
            <a:pPr marL="0" indent="0" algn="l" fontAlgn="auto">
              <a:lnSpc>
                <a:spcPct val="90000"/>
              </a:lnSpc>
              <a:defRPr/>
            </a:pPr>
            <a:r>
              <a:rPr lang="en-US" sz="2000" b="1" i="0" u="none" baseline="0" dirty="0">
                <a:solidFill>
                  <a:srgbClr val="E5A744"/>
                </a:solidFill>
                <a:latin typeface="思源黑体 Normal"/>
                <a:ea typeface="思源黑体 Normal"/>
              </a:rPr>
              <a:t>Student Registration and Bed Allocation</a:t>
            </a:r>
            <a:endParaRPr lang="en-US" sz="1100" dirty="0"/>
          </a:p>
        </p:txBody>
      </p:sp>
      <p:sp>
        <p:nvSpPr>
          <p:cNvPr id="11" name="TextBox 11"/>
          <p:cNvSpPr txBox="1"/>
          <p:nvPr/>
        </p:nvSpPr>
        <p:spPr>
          <a:xfrm>
            <a:off x="961390" y="3343275"/>
            <a:ext cx="4536000" cy="2160000"/>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500" b="0" i="0" u="none" baseline="0" dirty="0">
                <a:solidFill>
                  <a:srgbClr val="000000"/>
                </a:solidFill>
                <a:latin typeface="思源黑体 Normal"/>
                <a:ea typeface="思源黑体 Normal"/>
              </a:rPr>
              <a:t>The admin registers students and stores personal information. After verification, students become eligible for hostel. Bed allocation assigns a bed to a student based on availability, with data stored in the ALLOCATION entity.</a:t>
            </a:r>
            <a:endParaRPr lang="en-US" sz="1100" dirty="0"/>
          </a:p>
          <a:p>
            <a:pPr marL="0" indent="0" algn="r" fontAlgn="auto">
              <a:lnSpc>
                <a:spcPct val="150000"/>
              </a:lnSpc>
            </a:pPr>
            <a:endParaRPr lang="en-US" sz="1100" dirty="0"/>
          </a:p>
          <a:p>
            <a:pPr marL="0" indent="0" algn="r" fontAlgn="auto">
              <a:lnSpc>
                <a:spcPct val="150000"/>
              </a:lnSpc>
            </a:pPr>
            <a:endParaRPr lang="en-US" sz="1100" dirty="0"/>
          </a:p>
        </p:txBody>
      </p:sp>
      <p:sp>
        <p:nvSpPr>
          <p:cNvPr id="12" name="TextBox 12"/>
          <p:cNvSpPr txBox="1"/>
          <p:nvPr/>
        </p:nvSpPr>
        <p:spPr>
          <a:xfrm>
            <a:off x="6657975" y="3343275"/>
            <a:ext cx="4536000" cy="2160000"/>
          </a:xfrm>
          <a:prstGeom prst="rect">
            <a:avLst/>
          </a:prstGeom>
        </p:spPr>
        <p:txBody>
          <a:bodyPr vert="horz" wrap="square" lIns="90170" tIns="46990" rIns="90170" bIns="46990" rtlCol="0" anchor="t">
            <a:normAutofit/>
          </a:bodyPr>
          <a:lstStyle/>
          <a:p>
            <a:pPr marL="0" indent="0" algn="just" fontAlgn="auto">
              <a:lnSpc>
                <a:spcPct val="150000"/>
              </a:lnSpc>
              <a:defRPr/>
            </a:pPr>
            <a:r>
              <a:rPr lang="en-US" sz="1500" b="0" i="0" u="none" baseline="0">
                <a:solidFill>
                  <a:srgbClr val="000000"/>
                </a:solidFill>
                <a:latin typeface="思源黑体 Normal"/>
                <a:ea typeface="思源黑体 Normal"/>
              </a:rPr>
              <a:t>Students pay rent via various methods, with data stored in PAYMENT. Complaints are filed for service issues, linked to student and room. Maintenance requests are processed for repairs, supporting all system actors.</a:t>
            </a:r>
            <a:endParaRPr lang="en-US" sz="1100"/>
          </a:p>
          <a:p>
            <a:pPr marL="0" indent="0" algn="r" fontAlgn="auto">
              <a:lnSpc>
                <a:spcPct val="150000"/>
              </a:lnSpc>
            </a:pPr>
            <a:endParaRPr lang="en-US" sz="1100"/>
          </a:p>
          <a:p>
            <a:pPr marL="0" indent="0" algn="r" fontAlgn="auto">
              <a:lnSpc>
                <a:spcPct val="150000"/>
              </a:lnSpc>
            </a:pPr>
            <a:endParaRPr lang="en-US" sz="1100"/>
          </a:p>
        </p:txBody>
      </p:sp>
      <p:sp>
        <p:nvSpPr>
          <p:cNvPr id="13" name="TextBox 13"/>
          <p:cNvSpPr txBox="1"/>
          <p:nvPr/>
        </p:nvSpPr>
        <p:spPr>
          <a:xfrm>
            <a:off x="6657975" y="2796540"/>
            <a:ext cx="4535805" cy="540000"/>
          </a:xfrm>
          <a:prstGeom prst="rect">
            <a:avLst/>
          </a:prstGeom>
        </p:spPr>
        <p:txBody>
          <a:bodyPr vert="horz" wrap="square" lIns="90170" tIns="46990" rIns="90170" bIns="46990" rtlCol="0" anchor="ctr">
            <a:normAutofit/>
          </a:bodyPr>
          <a:lstStyle/>
          <a:p>
            <a:pPr marL="0" indent="0" algn="l" fontAlgn="auto">
              <a:lnSpc>
                <a:spcPct val="90000"/>
              </a:lnSpc>
              <a:defRPr/>
            </a:pPr>
            <a:r>
              <a:rPr lang="en-US" sz="2000" b="1" i="0" u="none" baseline="0">
                <a:solidFill>
                  <a:srgbClr val="E5A744"/>
                </a:solidFill>
                <a:latin typeface="思源黑体 Normal"/>
                <a:ea typeface="思源黑体 Normal"/>
              </a:rPr>
              <a:t>Payment and Complaint Management</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114800" y="1828800"/>
            <a:ext cx="8455477" cy="2640972"/>
          </a:xfrm>
          <a:prstGeom prst="rect">
            <a:avLst/>
          </a:prstGeom>
          <a:noFill/>
        </p:spPr>
        <p:txBody>
          <a:bodyPr vert="horz" wrap="square" lIns="0" tIns="0" rIns="0" bIns="0" rtlCol="0" anchor="ctr">
            <a:noAutofit/>
          </a:bodyPr>
          <a:lstStyle/>
          <a:p>
            <a:pPr marL="0" algn="just">
              <a:defRPr/>
            </a:pPr>
            <a:r>
              <a:rPr lang="en-US" sz="6000" b="1" dirty="0">
                <a:solidFill>
                  <a:srgbClr val="FFFFFF"/>
                </a:solidFill>
                <a:latin typeface="思源黑体 Medium"/>
              </a:rPr>
              <a:t>THANK YOU </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rgbClr val="262626"/>
      </a:dk1>
      <a:lt1>
        <a:srgbClr val="FFFFFF"/>
      </a:lt1>
      <a:dk2>
        <a:srgbClr val="E5A744"/>
      </a:dk2>
      <a:lt2>
        <a:srgbClr val="FFFFFF"/>
      </a:lt2>
      <a:accent1>
        <a:srgbClr val="E5A744"/>
      </a:accent1>
      <a:accent2>
        <a:srgbClr val="E5A744"/>
      </a:accent2>
      <a:accent3>
        <a:srgbClr val="E5A744"/>
      </a:accent3>
      <a:accent4>
        <a:srgbClr val="E5A744"/>
      </a:accent4>
      <a:accent5>
        <a:srgbClr val="E5A744"/>
      </a:accent5>
      <a:accent6>
        <a:srgbClr val="E5A744"/>
      </a:accent6>
      <a:hlink>
        <a:srgbClr val="262626"/>
      </a:hlink>
      <a:folHlink>
        <a:srgbClr val="262626"/>
      </a:folHlink>
    </a:clrScheme>
    <a:fontScheme name="Office">
      <a:majorFont>
        <a:latin typeface="思源黑体 Normal"/>
        <a:ea typeface="思源黑体 Normal"/>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思源黑体 Normal"/>
        <a:ea typeface="思源黑体 Normal"/>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1070</Words>
  <Application>Microsoft Office PowerPoint</Application>
  <PresentationFormat>Widescreen</PresentationFormat>
  <Paragraphs>96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思源黑体 Medium</vt:lpstr>
      <vt:lpstr>思源黑体 Normal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Md. Riyad Ahmed Hridoy</cp:lastModifiedBy>
  <cp:revision>2</cp:revision>
  <dcterms:created xsi:type="dcterms:W3CDTF">2026-04-20T23:21:46Z</dcterms:created>
  <dcterms:modified xsi:type="dcterms:W3CDTF">2026-04-21T00:43:30Z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pyright">
    <vt:lpwstr>https://docmee.cn</vt:lpwstr>
  </property>
  <property fmtid="{D5CDD505-2E9C-101B-9397-08002B2CF9AE}" pid="3" name="developer">
    <vt:lpwstr>https://github.com/veasion</vt:lpwstr>
  </property>
  <property fmtid="{D5CDD505-2E9C-101B-9397-08002B2CF9AE}" pid="4" name="AIGC">
    <vt:lpwstr>{"ContentPropagator":"文多多","Label":"1","ReservedCode1":"1776727306965","ProduceID":"wenduoduo-pptx-1776727306965","ReservedCode2":"1776727306965","PropagateID":"wenduoduo-pptx1776727306965","ContentProducer":"文多多"}</vt:lpwstr>
  </property>
</Properties>
</file>